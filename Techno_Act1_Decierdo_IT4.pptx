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5E3F"/>
        </a:solidFill>
        <a:effectLst/>
      </p:bgPr>
    </p:bg>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5FB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66800" y="1828800"/>
            <a:ext cx="10058400" cy="338554"/>
          </a:xfrm>
          <a:prstGeom prst="rect">
            <a:avLst/>
          </a:prstGeom>
          <a:noFill/>
        </p:spPr>
        <p:txBody>
          <a:bodyPr wrap="square" anchor="t">
            <a:spAutoFit/>
          </a:bodyPr>
          <a:lstStyle/>
          <a:p>
            <a:pPr algn="ctr">
              <a:lnSpc>
                <a:spcPct val="100000"/>
              </a:lnSpc>
            </a:pPr>
            <a:r>
              <a:rPr sz="1600" b="1" i="0" dirty="0">
                <a:solidFill>
                  <a:srgbClr val="5FB48C"/>
                </a:solidFill>
                <a:latin typeface="Calibri"/>
              </a:rPr>
              <a:t>TECHNOPRENEURSHIP </a:t>
            </a:r>
            <a:r>
              <a:rPr lang="en-PH" sz="1600" b="1" i="0" dirty="0">
                <a:solidFill>
                  <a:srgbClr val="5FB48C"/>
                </a:solidFill>
                <a:latin typeface="Calibri"/>
              </a:rPr>
              <a:t>-</a:t>
            </a:r>
            <a:r>
              <a:rPr sz="1600" b="1" i="0" dirty="0">
                <a:solidFill>
                  <a:srgbClr val="5FB48C"/>
                </a:solidFill>
                <a:latin typeface="Calibri"/>
              </a:rPr>
              <a:t> ACTIVITY </a:t>
            </a:r>
            <a:r>
              <a:rPr lang="en-US" sz="1600" b="1" i="0" dirty="0">
                <a:solidFill>
                  <a:srgbClr val="5FB48C"/>
                </a:solidFill>
                <a:latin typeface="Calibri"/>
              </a:rPr>
              <a:t>6</a:t>
            </a:r>
            <a:endParaRPr sz="1600" b="1" i="0" dirty="0">
              <a:solidFill>
                <a:srgbClr val="5FB48C"/>
              </a:solidFill>
              <a:latin typeface="Calibri"/>
            </a:endParaRPr>
          </a:p>
        </p:txBody>
      </p:sp>
      <p:sp>
        <p:nvSpPr>
          <p:cNvPr id="4" name="TextBox 3"/>
          <p:cNvSpPr txBox="1"/>
          <p:nvPr/>
        </p:nvSpPr>
        <p:spPr>
          <a:xfrm>
            <a:off x="2616708" y="2144127"/>
            <a:ext cx="6958584" cy="1200329"/>
          </a:xfrm>
          <a:prstGeom prst="rect">
            <a:avLst/>
          </a:prstGeom>
          <a:noFill/>
        </p:spPr>
        <p:txBody>
          <a:bodyPr wrap="square" anchor="t">
            <a:spAutoFit/>
          </a:bodyPr>
          <a:lstStyle/>
          <a:p>
            <a:pPr algn="ctr">
              <a:lnSpc>
                <a:spcPct val="100000"/>
              </a:lnSpc>
            </a:pPr>
            <a:r>
              <a:rPr sz="7200" b="1" i="0" dirty="0" err="1">
                <a:solidFill>
                  <a:srgbClr val="FFFFFF"/>
                </a:solidFill>
                <a:latin typeface="Calibri"/>
              </a:rPr>
              <a:t>Bantayledger</a:t>
            </a:r>
            <a:endParaRPr sz="7200" b="1" i="0" dirty="0">
              <a:solidFill>
                <a:srgbClr val="FFFFFF"/>
              </a:solidFill>
              <a:latin typeface="Calibri"/>
            </a:endParaRPr>
          </a:p>
        </p:txBody>
      </p:sp>
      <p:sp>
        <p:nvSpPr>
          <p:cNvPr id="5" name="TextBox 4"/>
          <p:cNvSpPr txBox="1"/>
          <p:nvPr/>
        </p:nvSpPr>
        <p:spPr>
          <a:xfrm>
            <a:off x="914400" y="3196474"/>
            <a:ext cx="10058400" cy="430887"/>
          </a:xfrm>
          <a:prstGeom prst="rect">
            <a:avLst/>
          </a:prstGeom>
          <a:noFill/>
        </p:spPr>
        <p:txBody>
          <a:bodyPr wrap="square" anchor="t">
            <a:spAutoFit/>
          </a:bodyPr>
          <a:lstStyle/>
          <a:p>
            <a:pPr algn="ctr">
              <a:lnSpc>
                <a:spcPct val="100000"/>
              </a:lnSpc>
            </a:pPr>
            <a:r>
              <a:rPr sz="2200" b="0" i="1" dirty="0">
                <a:solidFill>
                  <a:srgbClr val="5FB48C"/>
                </a:solidFill>
                <a:latin typeface="Calibri"/>
              </a:rPr>
              <a:t>(</a:t>
            </a:r>
            <a:r>
              <a:rPr sz="2200" b="0" i="1" dirty="0" err="1">
                <a:solidFill>
                  <a:srgbClr val="5FB48C"/>
                </a:solidFill>
                <a:latin typeface="Calibri"/>
              </a:rPr>
              <a:t>BantayLedger</a:t>
            </a:r>
            <a:r>
              <a:rPr sz="2200" b="0" i="1" dirty="0">
                <a:solidFill>
                  <a:srgbClr val="5FB48C"/>
                </a:solidFill>
                <a:latin typeface="Calibri"/>
              </a:rPr>
              <a:t> AI)</a:t>
            </a:r>
          </a:p>
        </p:txBody>
      </p:sp>
      <p:sp>
        <p:nvSpPr>
          <p:cNvPr id="6" name="TextBox 5"/>
          <p:cNvSpPr txBox="1"/>
          <p:nvPr/>
        </p:nvSpPr>
        <p:spPr>
          <a:xfrm>
            <a:off x="1143000" y="3743236"/>
            <a:ext cx="9601200" cy="734945"/>
          </a:xfrm>
          <a:prstGeom prst="rect">
            <a:avLst/>
          </a:prstGeom>
          <a:noFill/>
        </p:spPr>
        <p:txBody>
          <a:bodyPr wrap="square" anchor="t">
            <a:spAutoFit/>
          </a:bodyPr>
          <a:lstStyle/>
          <a:p>
            <a:pPr algn="ctr">
              <a:lnSpc>
                <a:spcPct val="120000"/>
              </a:lnSpc>
            </a:pPr>
            <a:r>
              <a:rPr sz="1800" b="0" i="0" dirty="0">
                <a:solidFill>
                  <a:srgbClr val="FFFFFF"/>
                </a:solidFill>
                <a:latin typeface="Calibri"/>
              </a:rPr>
              <a:t>An offline-first Ionic + Capacitor inventory, sales and forecasting ledger</a:t>
            </a:r>
          </a:p>
          <a:p>
            <a:pPr algn="ctr">
              <a:lnSpc>
                <a:spcPct val="120000"/>
              </a:lnSpc>
            </a:pPr>
            <a:r>
              <a:rPr sz="1800" b="0" i="0" dirty="0">
                <a:solidFill>
                  <a:srgbClr val="FFFFFF"/>
                </a:solidFill>
                <a:latin typeface="Calibri"/>
              </a:rPr>
              <a:t>for small Philippine retail businesses.</a:t>
            </a:r>
          </a:p>
        </p:txBody>
      </p:sp>
      <p:sp>
        <p:nvSpPr>
          <p:cNvPr id="7" name="Rectangle 6"/>
          <p:cNvSpPr/>
          <p:nvPr/>
        </p:nvSpPr>
        <p:spPr>
          <a:xfrm>
            <a:off x="4724400" y="4581356"/>
            <a:ext cx="2743200" cy="25400"/>
          </a:xfrm>
          <a:prstGeom prst="rect">
            <a:avLst/>
          </a:prstGeom>
          <a:solidFill>
            <a:srgbClr val="5FB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81200" y="5413248"/>
            <a:ext cx="5486400" cy="365760"/>
          </a:xfrm>
          <a:prstGeom prst="rect">
            <a:avLst/>
          </a:prstGeom>
          <a:noFill/>
        </p:spPr>
        <p:txBody>
          <a:bodyPr wrap="square" anchor="t">
            <a:spAutoFit/>
          </a:bodyPr>
          <a:lstStyle/>
          <a:p>
            <a:pPr algn="l">
              <a:lnSpc>
                <a:spcPct val="100000"/>
              </a:lnSpc>
            </a:pPr>
            <a:r>
              <a:rPr sz="2000" b="1" i="0" dirty="0">
                <a:solidFill>
                  <a:srgbClr val="FFFFFF"/>
                </a:solidFill>
                <a:latin typeface="Calibri"/>
              </a:rPr>
              <a:t>Kim G. Decierdo</a:t>
            </a:r>
          </a:p>
        </p:txBody>
      </p:sp>
      <p:sp>
        <p:nvSpPr>
          <p:cNvPr id="9" name="TextBox 8"/>
          <p:cNvSpPr txBox="1"/>
          <p:nvPr/>
        </p:nvSpPr>
        <p:spPr>
          <a:xfrm>
            <a:off x="9281160" y="5413248"/>
            <a:ext cx="5486400" cy="365760"/>
          </a:xfrm>
          <a:prstGeom prst="rect">
            <a:avLst/>
          </a:prstGeom>
          <a:noFill/>
        </p:spPr>
        <p:txBody>
          <a:bodyPr wrap="square" anchor="t">
            <a:spAutoFit/>
          </a:bodyPr>
          <a:lstStyle/>
          <a:p>
            <a:pPr algn="l">
              <a:lnSpc>
                <a:spcPct val="100000"/>
              </a:lnSpc>
            </a:pPr>
            <a:r>
              <a:rPr sz="1600" b="0" i="0">
                <a:solidFill>
                  <a:srgbClr val="5FB48C"/>
                </a:solidFill>
                <a:latin typeface="Calibri"/>
              </a:rPr>
              <a:t>BSIT 4A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9144000" cy="548640"/>
          </a:xfrm>
          <a:prstGeom prst="rect">
            <a:avLst/>
          </a:prstGeom>
          <a:noFill/>
        </p:spPr>
        <p:txBody>
          <a:bodyPr wrap="square" anchor="t">
            <a:spAutoFit/>
          </a:bodyPr>
          <a:lstStyle/>
          <a:p>
            <a:pPr algn="l">
              <a:lnSpc>
                <a:spcPct val="100000"/>
              </a:lnSpc>
            </a:pPr>
            <a:r>
              <a:rPr sz="3000" b="1" i="0">
                <a:solidFill>
                  <a:srgbClr val="FFFFFF"/>
                </a:solidFill>
                <a:latin typeface="Calibri"/>
              </a:rPr>
              <a:t>System Overview</a:t>
            </a:r>
          </a:p>
        </p:txBody>
      </p:sp>
      <p:sp>
        <p:nvSpPr>
          <p:cNvPr id="4" name="TextBox 3"/>
          <p:cNvSpPr txBox="1"/>
          <p:nvPr/>
        </p:nvSpPr>
        <p:spPr>
          <a:xfrm>
            <a:off x="457200" y="1188720"/>
            <a:ext cx="5486400" cy="365760"/>
          </a:xfrm>
          <a:prstGeom prst="rect">
            <a:avLst/>
          </a:prstGeom>
          <a:noFill/>
        </p:spPr>
        <p:txBody>
          <a:bodyPr wrap="square" anchor="t">
            <a:spAutoFit/>
          </a:bodyPr>
          <a:lstStyle/>
          <a:p>
            <a:pPr algn="l">
              <a:lnSpc>
                <a:spcPct val="100000"/>
              </a:lnSpc>
            </a:pPr>
            <a:r>
              <a:rPr sz="1600" b="1" i="0">
                <a:solidFill>
                  <a:srgbClr val="1B5E3F"/>
                </a:solidFill>
                <a:latin typeface="Calibri"/>
              </a:rPr>
              <a:t>What it is</a:t>
            </a:r>
          </a:p>
        </p:txBody>
      </p:sp>
      <p:sp>
        <p:nvSpPr>
          <p:cNvPr id="5" name="TextBox 4"/>
          <p:cNvSpPr txBox="1"/>
          <p:nvPr/>
        </p:nvSpPr>
        <p:spPr>
          <a:xfrm>
            <a:off x="457200" y="1554480"/>
            <a:ext cx="5486400" cy="999056"/>
          </a:xfrm>
          <a:prstGeom prst="rect">
            <a:avLst/>
          </a:prstGeom>
          <a:noFill/>
        </p:spPr>
        <p:txBody>
          <a:bodyPr wrap="square" anchor="t">
            <a:spAutoFit/>
          </a:bodyPr>
          <a:lstStyle/>
          <a:p>
            <a:pPr algn="l">
              <a:lnSpc>
                <a:spcPct val="115000"/>
              </a:lnSpc>
            </a:pPr>
            <a:r>
              <a:rPr sz="1300" b="0" i="0" dirty="0" err="1">
                <a:solidFill>
                  <a:srgbClr val="1A1A1A"/>
                </a:solidFill>
                <a:latin typeface="Calibri"/>
              </a:rPr>
              <a:t>Bantayledger</a:t>
            </a:r>
            <a:r>
              <a:rPr sz="1300" b="0" i="0" dirty="0">
                <a:solidFill>
                  <a:srgbClr val="1A1A1A"/>
                </a:solidFill>
                <a:latin typeface="Calibri"/>
              </a:rPr>
              <a:t> is a mobile-first business ledger for small retailers (e.g. sari-sari stores / mini groceries) that tracks inventory, sales, purchases, suppliers, expenses and waste </a:t>
            </a:r>
            <a:r>
              <a:rPr lang="en-PH" sz="1300" b="0" i="0" dirty="0">
                <a:solidFill>
                  <a:srgbClr val="1A1A1A"/>
                </a:solidFill>
                <a:latin typeface="Calibri"/>
              </a:rPr>
              <a:t>-</a:t>
            </a:r>
            <a:r>
              <a:rPr sz="1300" b="0" i="0" dirty="0">
                <a:solidFill>
                  <a:srgbClr val="1A1A1A"/>
                </a:solidFill>
                <a:latin typeface="Calibri"/>
              </a:rPr>
              <a:t> and layers demand/cost forecasting and recommendations on top.</a:t>
            </a:r>
          </a:p>
        </p:txBody>
      </p:sp>
      <p:sp>
        <p:nvSpPr>
          <p:cNvPr id="6" name="TextBox 5"/>
          <p:cNvSpPr txBox="1"/>
          <p:nvPr/>
        </p:nvSpPr>
        <p:spPr>
          <a:xfrm>
            <a:off x="457200" y="2743200"/>
            <a:ext cx="5486400" cy="365760"/>
          </a:xfrm>
          <a:prstGeom prst="rect">
            <a:avLst/>
          </a:prstGeom>
          <a:noFill/>
        </p:spPr>
        <p:txBody>
          <a:bodyPr wrap="square" anchor="t">
            <a:spAutoFit/>
          </a:bodyPr>
          <a:lstStyle/>
          <a:p>
            <a:pPr algn="l">
              <a:lnSpc>
                <a:spcPct val="100000"/>
              </a:lnSpc>
            </a:pPr>
            <a:r>
              <a:rPr sz="1600" b="1" i="0">
                <a:solidFill>
                  <a:srgbClr val="1B5E3F"/>
                </a:solidFill>
                <a:latin typeface="Calibri"/>
              </a:rPr>
              <a:t>Problem it addresses</a:t>
            </a:r>
          </a:p>
        </p:txBody>
      </p:sp>
      <p:sp>
        <p:nvSpPr>
          <p:cNvPr id="7" name="TextBox 6"/>
          <p:cNvSpPr txBox="1"/>
          <p:nvPr/>
        </p:nvSpPr>
        <p:spPr>
          <a:xfrm>
            <a:off x="457200" y="3108960"/>
            <a:ext cx="5486400" cy="999056"/>
          </a:xfrm>
          <a:prstGeom prst="rect">
            <a:avLst/>
          </a:prstGeom>
          <a:noFill/>
        </p:spPr>
        <p:txBody>
          <a:bodyPr wrap="square" anchor="t">
            <a:spAutoFit/>
          </a:bodyPr>
          <a:lstStyle/>
          <a:p>
            <a:pPr algn="l">
              <a:lnSpc>
                <a:spcPct val="115000"/>
              </a:lnSpc>
            </a:pPr>
            <a:r>
              <a:rPr sz="1300" b="0" i="0" dirty="0">
                <a:solidFill>
                  <a:srgbClr val="1A1A1A"/>
                </a:solidFill>
                <a:latin typeface="Calibri"/>
              </a:rPr>
              <a:t>Small store owners typically track stock, sales and expenses on paper or memory, with no visibility into what is running low, what suppliers are charging over time, or what to expect next week </a:t>
            </a:r>
            <a:r>
              <a:rPr lang="en-PH" sz="1300" b="0" i="0" dirty="0">
                <a:solidFill>
                  <a:srgbClr val="1A1A1A"/>
                </a:solidFill>
                <a:latin typeface="Calibri"/>
              </a:rPr>
              <a:t>-</a:t>
            </a:r>
            <a:r>
              <a:rPr sz="1300" b="0" i="0" dirty="0">
                <a:solidFill>
                  <a:srgbClr val="1A1A1A"/>
                </a:solidFill>
                <a:latin typeface="Calibri"/>
              </a:rPr>
              <a:t> leading to stockouts, overbuying and waste.</a:t>
            </a:r>
          </a:p>
        </p:txBody>
      </p:sp>
      <p:sp>
        <p:nvSpPr>
          <p:cNvPr id="8" name="TextBox 7"/>
          <p:cNvSpPr txBox="1"/>
          <p:nvPr/>
        </p:nvSpPr>
        <p:spPr>
          <a:xfrm>
            <a:off x="457200" y="4297680"/>
            <a:ext cx="5486400" cy="365760"/>
          </a:xfrm>
          <a:prstGeom prst="rect">
            <a:avLst/>
          </a:prstGeom>
          <a:noFill/>
        </p:spPr>
        <p:txBody>
          <a:bodyPr wrap="square" anchor="t">
            <a:spAutoFit/>
          </a:bodyPr>
          <a:lstStyle/>
          <a:p>
            <a:pPr algn="l">
              <a:lnSpc>
                <a:spcPct val="100000"/>
              </a:lnSpc>
            </a:pPr>
            <a:r>
              <a:rPr sz="1600" b="1" i="0">
                <a:solidFill>
                  <a:srgbClr val="1B5E3F"/>
                </a:solidFill>
                <a:latin typeface="Calibri"/>
              </a:rPr>
              <a:t>Target users</a:t>
            </a:r>
          </a:p>
        </p:txBody>
      </p:sp>
      <p:sp>
        <p:nvSpPr>
          <p:cNvPr id="9" name="TextBox 8"/>
          <p:cNvSpPr txBox="1"/>
          <p:nvPr/>
        </p:nvSpPr>
        <p:spPr>
          <a:xfrm>
            <a:off x="457200" y="4663440"/>
            <a:ext cx="5486400" cy="897682"/>
          </a:xfrm>
          <a:prstGeom prst="rect">
            <a:avLst/>
          </a:prstGeom>
          <a:noFill/>
        </p:spPr>
        <p:txBody>
          <a:bodyPr wrap="square">
            <a:spAutoFit/>
          </a:bodyPr>
          <a:lstStyle/>
          <a:p>
            <a:pPr>
              <a:spcAft>
                <a:spcPts val="800"/>
              </a:spcAft>
            </a:pPr>
            <a:r>
              <a:rPr sz="1300" dirty="0">
                <a:solidFill>
                  <a:srgbClr val="1A1A1A"/>
                </a:solidFill>
                <a:latin typeface="Calibri"/>
              </a:rPr>
              <a:t>▸  Small retail / sari-sari store owners and staff in the Philippines</a:t>
            </a:r>
          </a:p>
          <a:p>
            <a:pPr>
              <a:spcAft>
                <a:spcPts val="800"/>
              </a:spcAft>
            </a:pPr>
            <a:r>
              <a:rPr sz="1300" dirty="0">
                <a:solidFill>
                  <a:srgbClr val="1A1A1A"/>
                </a:solidFill>
                <a:latin typeface="Calibri"/>
              </a:rPr>
              <a:t>▸  Multi-role businesses (Owner, Admin, Staff) sharing one ledger</a:t>
            </a:r>
          </a:p>
          <a:p>
            <a:pPr>
              <a:spcAft>
                <a:spcPts val="800"/>
              </a:spcAft>
            </a:pPr>
            <a:r>
              <a:rPr sz="1300" dirty="0">
                <a:solidFill>
                  <a:srgbClr val="1A1A1A"/>
                </a:solidFill>
                <a:latin typeface="Calibri"/>
              </a:rPr>
              <a:t>▸  Users needing offline access </a:t>
            </a:r>
            <a:r>
              <a:rPr lang="en-PH" sz="1300" dirty="0">
                <a:solidFill>
                  <a:srgbClr val="1A1A1A"/>
                </a:solidFill>
                <a:latin typeface="Calibri"/>
              </a:rPr>
              <a:t>-</a:t>
            </a:r>
            <a:r>
              <a:rPr sz="1300" dirty="0">
                <a:solidFill>
                  <a:srgbClr val="1A1A1A"/>
                </a:solidFill>
                <a:latin typeface="Calibri"/>
              </a:rPr>
              <a:t> the app works fully without internet</a:t>
            </a:r>
          </a:p>
        </p:txBody>
      </p:sp>
      <p:sp>
        <p:nvSpPr>
          <p:cNvPr id="10" name="TextBox 9"/>
          <p:cNvSpPr txBox="1"/>
          <p:nvPr/>
        </p:nvSpPr>
        <p:spPr>
          <a:xfrm>
            <a:off x="6400800" y="1188720"/>
            <a:ext cx="5303520" cy="365760"/>
          </a:xfrm>
          <a:prstGeom prst="rect">
            <a:avLst/>
          </a:prstGeom>
          <a:noFill/>
        </p:spPr>
        <p:txBody>
          <a:bodyPr wrap="square" anchor="t">
            <a:spAutoFit/>
          </a:bodyPr>
          <a:lstStyle/>
          <a:p>
            <a:pPr algn="l">
              <a:lnSpc>
                <a:spcPct val="100000"/>
              </a:lnSpc>
            </a:pPr>
            <a:r>
              <a:rPr sz="1600" b="1" i="0">
                <a:solidFill>
                  <a:srgbClr val="1B5E3F"/>
                </a:solidFill>
                <a:latin typeface="Calibri"/>
              </a:rPr>
              <a:t>Main features</a:t>
            </a:r>
          </a:p>
        </p:txBody>
      </p:sp>
      <p:sp>
        <p:nvSpPr>
          <p:cNvPr id="11" name="TextBox 10"/>
          <p:cNvSpPr txBox="1"/>
          <p:nvPr/>
        </p:nvSpPr>
        <p:spPr>
          <a:xfrm>
            <a:off x="6400800" y="1554480"/>
            <a:ext cx="5303520" cy="2862322"/>
          </a:xfrm>
          <a:prstGeom prst="rect">
            <a:avLst/>
          </a:prstGeom>
          <a:noFill/>
        </p:spPr>
        <p:txBody>
          <a:bodyPr wrap="square">
            <a:spAutoFit/>
          </a:bodyPr>
          <a:lstStyle/>
          <a:p>
            <a:pPr>
              <a:spcAft>
                <a:spcPts val="1000"/>
              </a:spcAft>
            </a:pPr>
            <a:r>
              <a:rPr sz="1300" b="1" dirty="0">
                <a:solidFill>
                  <a:srgbClr val="1B5E3F"/>
                </a:solidFill>
                <a:latin typeface="Calibri"/>
              </a:rPr>
              <a:t>▸  Inventory tracking  </a:t>
            </a:r>
            <a:r>
              <a:rPr lang="en-PH" sz="1300" b="0" dirty="0">
                <a:solidFill>
                  <a:srgbClr val="1A1A1A"/>
                </a:solidFill>
                <a:latin typeface="Calibri"/>
              </a:rPr>
              <a:t>-</a:t>
            </a:r>
            <a:r>
              <a:rPr sz="1300" b="0" dirty="0">
                <a:solidFill>
                  <a:srgbClr val="1A1A1A"/>
                </a:solidFill>
                <a:latin typeface="Calibri"/>
              </a:rPr>
              <a:t> stock levels, minimums, supplier pricing per product</a:t>
            </a:r>
          </a:p>
          <a:p>
            <a:pPr>
              <a:spcAft>
                <a:spcPts val="1000"/>
              </a:spcAft>
            </a:pPr>
            <a:r>
              <a:rPr sz="1300" b="1" dirty="0">
                <a:solidFill>
                  <a:srgbClr val="1B5E3F"/>
                </a:solidFill>
                <a:latin typeface="Calibri"/>
              </a:rPr>
              <a:t>▸  Sales &amp; purchases  </a:t>
            </a:r>
            <a:r>
              <a:rPr lang="en-PH" sz="1300" b="0" dirty="0">
                <a:solidFill>
                  <a:srgbClr val="1A1A1A"/>
                </a:solidFill>
                <a:latin typeface="Calibri"/>
              </a:rPr>
              <a:t>-</a:t>
            </a:r>
            <a:r>
              <a:rPr sz="1300" b="0" dirty="0">
                <a:solidFill>
                  <a:srgbClr val="1A1A1A"/>
                </a:solidFill>
                <a:latin typeface="Calibri"/>
              </a:rPr>
              <a:t> record transactions, see trends and summaries</a:t>
            </a:r>
          </a:p>
          <a:p>
            <a:pPr>
              <a:spcAft>
                <a:spcPts val="1000"/>
              </a:spcAft>
            </a:pPr>
            <a:r>
              <a:rPr sz="1300" b="1" dirty="0">
                <a:solidFill>
                  <a:srgbClr val="1B5E3F"/>
                </a:solidFill>
                <a:latin typeface="Calibri"/>
              </a:rPr>
              <a:t>▸  Suppliers &amp; expenses  </a:t>
            </a:r>
            <a:r>
              <a:rPr lang="en-PH" sz="1300" b="0" dirty="0">
                <a:solidFill>
                  <a:srgbClr val="1A1A1A"/>
                </a:solidFill>
                <a:latin typeface="Calibri"/>
              </a:rPr>
              <a:t>-</a:t>
            </a:r>
            <a:r>
              <a:rPr sz="1300" b="0" dirty="0">
                <a:solidFill>
                  <a:srgbClr val="1A1A1A"/>
                </a:solidFill>
                <a:latin typeface="Calibri"/>
              </a:rPr>
              <a:t> manage supplier pricing and non-stock costs</a:t>
            </a:r>
          </a:p>
          <a:p>
            <a:pPr>
              <a:spcAft>
                <a:spcPts val="1000"/>
              </a:spcAft>
            </a:pPr>
            <a:r>
              <a:rPr sz="1300" b="1" dirty="0">
                <a:solidFill>
                  <a:srgbClr val="1B5E3F"/>
                </a:solidFill>
                <a:latin typeface="Calibri"/>
              </a:rPr>
              <a:t>▸  Waste tracking  </a:t>
            </a:r>
            <a:r>
              <a:rPr lang="en-PH" sz="1300" b="0" dirty="0">
                <a:solidFill>
                  <a:srgbClr val="1A1A1A"/>
                </a:solidFill>
                <a:latin typeface="Calibri"/>
              </a:rPr>
              <a:t>-</a:t>
            </a:r>
            <a:r>
              <a:rPr sz="1300" b="0" dirty="0">
                <a:solidFill>
                  <a:srgbClr val="1A1A1A"/>
                </a:solidFill>
                <a:latin typeface="Calibri"/>
              </a:rPr>
              <a:t> log spoilage/damage and its cost impact</a:t>
            </a:r>
          </a:p>
          <a:p>
            <a:pPr>
              <a:spcAft>
                <a:spcPts val="1000"/>
              </a:spcAft>
            </a:pPr>
            <a:r>
              <a:rPr sz="1300" b="1" dirty="0">
                <a:solidFill>
                  <a:srgbClr val="1B5E3F"/>
                </a:solidFill>
                <a:latin typeface="Calibri"/>
              </a:rPr>
              <a:t>▸  Forecast &amp; AI Insights  </a:t>
            </a:r>
            <a:r>
              <a:rPr lang="en-PH" sz="1300" b="0" dirty="0">
                <a:solidFill>
                  <a:srgbClr val="1A1A1A"/>
                </a:solidFill>
                <a:latin typeface="Calibri"/>
              </a:rPr>
              <a:t>-</a:t>
            </a:r>
            <a:r>
              <a:rPr sz="1300" b="0" dirty="0">
                <a:solidFill>
                  <a:srgbClr val="1A1A1A"/>
                </a:solidFill>
                <a:latin typeface="Calibri"/>
              </a:rPr>
              <a:t> demand/price/cost projections and recommendations</a:t>
            </a:r>
          </a:p>
          <a:p>
            <a:pPr>
              <a:spcAft>
                <a:spcPts val="1000"/>
              </a:spcAft>
            </a:pPr>
            <a:r>
              <a:rPr sz="1300" b="1" dirty="0">
                <a:solidFill>
                  <a:srgbClr val="1B5E3F"/>
                </a:solidFill>
                <a:latin typeface="Calibri"/>
              </a:rPr>
              <a:t>▸  Alerts &amp; Reports  </a:t>
            </a:r>
            <a:r>
              <a:rPr lang="en-PH" sz="1300" b="0" dirty="0">
                <a:solidFill>
                  <a:srgbClr val="1A1A1A"/>
                </a:solidFill>
                <a:latin typeface="Calibri"/>
              </a:rPr>
              <a:t>-</a:t>
            </a:r>
            <a:r>
              <a:rPr sz="1300" b="0" dirty="0">
                <a:solidFill>
                  <a:srgbClr val="1A1A1A"/>
                </a:solidFill>
                <a:latin typeface="Calibri"/>
              </a:rPr>
              <a:t> low-stock/price signals and consolidated reports</a:t>
            </a:r>
          </a:p>
          <a:p>
            <a:pPr>
              <a:spcAft>
                <a:spcPts val="1000"/>
              </a:spcAft>
            </a:pPr>
            <a:r>
              <a:rPr sz="1300" b="1" dirty="0">
                <a:solidFill>
                  <a:srgbClr val="1B5E3F"/>
                </a:solidFill>
                <a:latin typeface="Calibri"/>
              </a:rPr>
              <a:t>▸  Offline-first + optional cloud sync  </a:t>
            </a:r>
            <a:r>
              <a:rPr lang="en-PH" sz="1300" b="0" dirty="0">
                <a:solidFill>
                  <a:srgbClr val="1A1A1A"/>
                </a:solidFill>
                <a:latin typeface="Calibri"/>
              </a:rPr>
              <a:t>-</a:t>
            </a:r>
            <a:r>
              <a:rPr sz="1300" b="0" dirty="0">
                <a:solidFill>
                  <a:srgbClr val="1A1A1A"/>
                </a:solidFill>
                <a:latin typeface="Calibri"/>
              </a:rPr>
              <a:t> on-device SQLite or </a:t>
            </a:r>
            <a:r>
              <a:rPr sz="1300" b="0" dirty="0" err="1">
                <a:solidFill>
                  <a:srgbClr val="1A1A1A"/>
                </a:solidFill>
                <a:latin typeface="Calibri"/>
              </a:rPr>
              <a:t>Supabase</a:t>
            </a:r>
            <a:r>
              <a:rPr sz="1300" b="0" dirty="0">
                <a:solidFill>
                  <a:srgbClr val="1A1A1A"/>
                </a:solidFill>
                <a:latin typeface="Calibri"/>
              </a:rPr>
              <a:t> backend</a:t>
            </a:r>
          </a:p>
        </p:txBody>
      </p:sp>
      <p:sp>
        <p:nvSpPr>
          <p:cNvPr id="12" name="TextBox 11"/>
          <p:cNvSpPr txBox="1"/>
          <p:nvPr/>
        </p:nvSpPr>
        <p:spPr>
          <a:xfrm>
            <a:off x="457200" y="6537960"/>
            <a:ext cx="5486400" cy="246221"/>
          </a:xfrm>
          <a:prstGeom prst="rect">
            <a:avLst/>
          </a:prstGeom>
          <a:noFill/>
        </p:spPr>
        <p:txBody>
          <a:bodyPr wrap="square" anchor="t">
            <a:spAutoFit/>
          </a:bodyPr>
          <a:lstStyle/>
          <a:p>
            <a:pPr algn="l">
              <a:lnSpc>
                <a:spcPct val="100000"/>
              </a:lnSpc>
            </a:pPr>
            <a:r>
              <a:rPr sz="1000" b="0" i="0" dirty="0" err="1">
                <a:solidFill>
                  <a:srgbClr val="5B635E"/>
                </a:solidFill>
                <a:latin typeface="Calibri"/>
              </a:rPr>
              <a:t>Bantayledger</a:t>
            </a:r>
            <a:r>
              <a:rPr sz="1000" b="0" i="0" dirty="0">
                <a:solidFill>
                  <a:srgbClr val="5B635E"/>
                </a:solidFill>
                <a:latin typeface="Calibri"/>
              </a:rPr>
              <a:t> </a:t>
            </a:r>
            <a:r>
              <a:rPr lang="en-PH" sz="1000" b="0" i="0" dirty="0">
                <a:solidFill>
                  <a:srgbClr val="5B635E"/>
                </a:solidFill>
                <a:latin typeface="Calibri"/>
              </a:rPr>
              <a:t>-</a:t>
            </a:r>
            <a:r>
              <a:rPr sz="1000" b="0" i="0" dirty="0">
                <a:solidFill>
                  <a:srgbClr val="5B635E"/>
                </a:solidFill>
                <a:latin typeface="Calibri"/>
              </a:rPr>
              <a:t> </a:t>
            </a:r>
            <a:r>
              <a:rPr sz="1000" b="0" i="0" dirty="0" err="1">
                <a:solidFill>
                  <a:srgbClr val="5B635E"/>
                </a:solidFill>
                <a:latin typeface="Calibri"/>
              </a:rPr>
              <a:t>Technopreneurship</a:t>
            </a:r>
            <a:endParaRPr sz="1000" b="0" i="0" dirty="0">
              <a:solidFill>
                <a:srgbClr val="5B635E"/>
              </a:solidFill>
              <a:latin typeface="Calibri"/>
            </a:endParaRPr>
          </a:p>
        </p:txBody>
      </p:sp>
      <p:sp>
        <p:nvSpPr>
          <p:cNvPr id="13" name="TextBox 12"/>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5E3F"/>
        </a:solidFill>
        <a:effectLst/>
      </p:bgPr>
    </p:bg>
    <p:spTree>
      <p:nvGrpSpPr>
        <p:cNvPr id="1" name=""/>
        <p:cNvGrpSpPr/>
        <p:nvPr/>
      </p:nvGrpSpPr>
      <p:grpSpPr>
        <a:xfrm>
          <a:off x="0" y="0"/>
          <a:ext cx="0" cy="0"/>
          <a:chOff x="0" y="0"/>
          <a:chExt cx="0" cy="0"/>
        </a:xfrm>
      </p:grpSpPr>
      <p:sp>
        <p:nvSpPr>
          <p:cNvPr id="2" name="Rectangle 1"/>
          <p:cNvSpPr/>
          <p:nvPr/>
        </p:nvSpPr>
        <p:spPr>
          <a:xfrm>
            <a:off x="0" y="3017520"/>
            <a:ext cx="12191695" cy="36576"/>
          </a:xfrm>
          <a:prstGeom prst="rect">
            <a:avLst/>
          </a:prstGeom>
          <a:solidFill>
            <a:srgbClr val="5FB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377440"/>
            <a:ext cx="10332720" cy="914400"/>
          </a:xfrm>
          <a:prstGeom prst="rect">
            <a:avLst/>
          </a:prstGeom>
          <a:noFill/>
        </p:spPr>
        <p:txBody>
          <a:bodyPr wrap="square" anchor="t">
            <a:spAutoFit/>
          </a:bodyPr>
          <a:lstStyle/>
          <a:p>
            <a:pPr algn="l">
              <a:lnSpc>
                <a:spcPct val="100000"/>
              </a:lnSpc>
            </a:pPr>
            <a:r>
              <a:rPr sz="4000" b="1" i="0">
                <a:solidFill>
                  <a:srgbClr val="FFFFFF"/>
                </a:solidFill>
                <a:latin typeface="Calibri"/>
              </a:rPr>
              <a:t>System UI Flow</a:t>
            </a:r>
          </a:p>
        </p:txBody>
      </p:sp>
      <p:sp>
        <p:nvSpPr>
          <p:cNvPr id="4" name="TextBox 3"/>
          <p:cNvSpPr txBox="1"/>
          <p:nvPr/>
        </p:nvSpPr>
        <p:spPr>
          <a:xfrm>
            <a:off x="914400" y="3246120"/>
            <a:ext cx="10332720" cy="731520"/>
          </a:xfrm>
          <a:prstGeom prst="rect">
            <a:avLst/>
          </a:prstGeom>
          <a:noFill/>
        </p:spPr>
        <p:txBody>
          <a:bodyPr wrap="square" anchor="t">
            <a:spAutoFit/>
          </a:bodyPr>
          <a:lstStyle/>
          <a:p>
            <a:pPr algn="l">
              <a:lnSpc>
                <a:spcPct val="100000"/>
              </a:lnSpc>
            </a:pPr>
            <a:r>
              <a:rPr sz="1600" b="0" i="0">
                <a:solidFill>
                  <a:srgbClr val="5FB48C"/>
                </a:solidFill>
                <a:latin typeface="Calibri"/>
              </a:rPr>
              <a:t>Screen-by-screen walkthrough of the actual running application</a:t>
            </a:r>
          </a:p>
        </p:txBody>
      </p:sp>
      <p:sp>
        <p:nvSpPr>
          <p:cNvPr id="5" name="TextBox 4"/>
          <p:cNvSpPr txBox="1"/>
          <p:nvPr/>
        </p:nvSpPr>
        <p:spPr>
          <a:xfrm>
            <a:off x="457200" y="6537960"/>
            <a:ext cx="5486400" cy="246221"/>
          </a:xfrm>
          <a:prstGeom prst="rect">
            <a:avLst/>
          </a:prstGeom>
          <a:noFill/>
        </p:spPr>
        <p:txBody>
          <a:bodyPr wrap="square" anchor="t">
            <a:spAutoFit/>
          </a:bodyPr>
          <a:lstStyle/>
          <a:p>
            <a:pPr algn="l">
              <a:lnSpc>
                <a:spcPct val="100000"/>
              </a:lnSpc>
            </a:pPr>
            <a:r>
              <a:rPr sz="1000" b="0" i="0" dirty="0" err="1">
                <a:solidFill>
                  <a:srgbClr val="5B635E"/>
                </a:solidFill>
                <a:latin typeface="Calibri"/>
              </a:rPr>
              <a:t>Bantayledger</a:t>
            </a:r>
            <a:r>
              <a:rPr sz="1000" b="0" i="0" dirty="0">
                <a:solidFill>
                  <a:srgbClr val="5B635E"/>
                </a:solidFill>
                <a:latin typeface="Calibri"/>
              </a:rPr>
              <a:t> </a:t>
            </a:r>
            <a:r>
              <a:rPr lang="en-PH" sz="1000" b="0" i="0" dirty="0">
                <a:solidFill>
                  <a:srgbClr val="5B635E"/>
                </a:solidFill>
                <a:latin typeface="Calibri"/>
              </a:rPr>
              <a:t>-</a:t>
            </a:r>
            <a:r>
              <a:rPr sz="1000" b="0" i="0" dirty="0">
                <a:solidFill>
                  <a:srgbClr val="5B635E"/>
                </a:solidFill>
                <a:latin typeface="Calibri"/>
              </a:rPr>
              <a:t> </a:t>
            </a:r>
            <a:r>
              <a:rPr sz="1000" b="0" i="0" dirty="0" err="1">
                <a:solidFill>
                  <a:srgbClr val="5B635E"/>
                </a:solidFill>
                <a:latin typeface="Calibri"/>
              </a:rPr>
              <a:t>Technopreneurship</a:t>
            </a:r>
            <a:endParaRPr sz="1000" b="0" i="0" dirty="0">
              <a:solidFill>
                <a:srgbClr val="5B635E"/>
              </a:solidFill>
              <a:latin typeface="Calibri"/>
            </a:endParaRPr>
          </a:p>
        </p:txBody>
      </p:sp>
      <p:sp>
        <p:nvSpPr>
          <p:cNvPr id="6" name="TextBox 5"/>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229600" cy="457200"/>
          </a:xfrm>
          <a:prstGeom prst="rect">
            <a:avLst/>
          </a:prstGeom>
          <a:noFill/>
        </p:spPr>
        <p:txBody>
          <a:bodyPr wrap="square" anchor="t">
            <a:spAutoFit/>
          </a:bodyPr>
          <a:lstStyle/>
          <a:p>
            <a:pPr algn="l">
              <a:lnSpc>
                <a:spcPct val="100000"/>
              </a:lnSpc>
            </a:pPr>
            <a:r>
              <a:rPr sz="2600" b="1" i="0">
                <a:solidFill>
                  <a:srgbClr val="FFFFFF"/>
                </a:solidFill>
                <a:latin typeface="Calibri"/>
              </a:rPr>
              <a:t>Login</a:t>
            </a:r>
          </a:p>
        </p:txBody>
      </p:sp>
      <p:sp>
        <p:nvSpPr>
          <p:cNvPr id="4" name="TextBox 3"/>
          <p:cNvSpPr txBox="1"/>
          <p:nvPr/>
        </p:nvSpPr>
        <p:spPr>
          <a:xfrm>
            <a:off x="457200" y="566928"/>
            <a:ext cx="8229600" cy="292388"/>
          </a:xfrm>
          <a:prstGeom prst="rect">
            <a:avLst/>
          </a:prstGeom>
          <a:noFill/>
        </p:spPr>
        <p:txBody>
          <a:bodyPr wrap="square" anchor="t">
            <a:spAutoFit/>
          </a:bodyPr>
          <a:lstStyle/>
          <a:p>
            <a:pPr algn="l">
              <a:lnSpc>
                <a:spcPct val="100000"/>
              </a:lnSpc>
            </a:pPr>
            <a:r>
              <a:rPr sz="1300" b="0" i="0" dirty="0">
                <a:solidFill>
                  <a:srgbClr val="5FB48C"/>
                </a:solidFill>
                <a:latin typeface="Calibri"/>
              </a:rPr>
              <a:t>Entry screen </a:t>
            </a:r>
            <a:r>
              <a:rPr lang="en-PH" sz="1300" b="0" i="0" dirty="0">
                <a:solidFill>
                  <a:srgbClr val="5FB48C"/>
                </a:solidFill>
                <a:latin typeface="Calibri"/>
              </a:rPr>
              <a:t>-</a:t>
            </a:r>
            <a:r>
              <a:rPr sz="1300" b="0" i="0" dirty="0">
                <a:solidFill>
                  <a:srgbClr val="5FB48C"/>
                </a:solidFill>
                <a:latin typeface="Calibri"/>
              </a:rPr>
              <a:t> sign in</a:t>
            </a:r>
          </a:p>
        </p:txBody>
      </p:sp>
      <p:pic>
        <p:nvPicPr>
          <p:cNvPr id="5" name="Picture 4" descr="01_login.jpg"/>
          <p:cNvPicPr>
            <a:picLocks noChangeAspect="1"/>
          </p:cNvPicPr>
          <p:nvPr/>
        </p:nvPicPr>
        <p:blipFill>
          <a:blip r:embed="rId2"/>
          <a:stretch>
            <a:fillRect/>
          </a:stretch>
        </p:blipFill>
        <p:spPr>
          <a:xfrm>
            <a:off x="457200" y="2281463"/>
            <a:ext cx="5943600" cy="3136462"/>
          </a:xfrm>
          <a:prstGeom prst="rect">
            <a:avLst/>
          </a:prstGeom>
        </p:spPr>
      </p:pic>
      <p:sp>
        <p:nvSpPr>
          <p:cNvPr id="6" name="Rectangle 5"/>
          <p:cNvSpPr/>
          <p:nvPr/>
        </p:nvSpPr>
        <p:spPr>
          <a:xfrm>
            <a:off x="457200" y="1188720"/>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0" y="1234440"/>
            <a:ext cx="5029200" cy="3016210"/>
          </a:xfrm>
          <a:prstGeom prst="rect">
            <a:avLst/>
          </a:prstGeom>
          <a:noFill/>
        </p:spPr>
        <p:txBody>
          <a:bodyPr wrap="square">
            <a:spAutoFit/>
          </a:bodyPr>
          <a:lstStyle/>
          <a:p>
            <a:pPr>
              <a:spcAft>
                <a:spcPts val="1000"/>
              </a:spcAft>
            </a:pPr>
            <a:r>
              <a:rPr sz="1500" b="1" dirty="0">
                <a:solidFill>
                  <a:srgbClr val="1B5E3F"/>
                </a:solidFill>
                <a:latin typeface="Calibri"/>
              </a:rPr>
              <a:t>▸  What it is:  </a:t>
            </a:r>
            <a:r>
              <a:rPr sz="1500" b="0" dirty="0">
                <a:solidFill>
                  <a:srgbClr val="1A1A1A"/>
                </a:solidFill>
                <a:latin typeface="Calibri"/>
              </a:rPr>
              <a:t>The app's entry point, shown to any signed-out visitor.</a:t>
            </a:r>
          </a:p>
          <a:p>
            <a:pPr>
              <a:spcAft>
                <a:spcPts val="1000"/>
              </a:spcAft>
            </a:pPr>
            <a:r>
              <a:rPr sz="1500" b="1" dirty="0">
                <a:solidFill>
                  <a:srgbClr val="1B5E3F"/>
                </a:solidFill>
                <a:latin typeface="Calibri"/>
              </a:rPr>
              <a:t>▸  Purpose:  </a:t>
            </a:r>
            <a:r>
              <a:rPr sz="1500" b="0" dirty="0">
                <a:solidFill>
                  <a:srgbClr val="1A1A1A"/>
                </a:solidFill>
                <a:latin typeface="Calibri"/>
              </a:rPr>
              <a:t>Authenticate an existing user against </a:t>
            </a:r>
            <a:r>
              <a:rPr sz="1500" b="0" dirty="0" err="1">
                <a:solidFill>
                  <a:srgbClr val="1A1A1A"/>
                </a:solidFill>
                <a:latin typeface="Calibri"/>
              </a:rPr>
              <a:t>Supabase</a:t>
            </a:r>
            <a:r>
              <a:rPr sz="1500" b="0" dirty="0">
                <a:solidFill>
                  <a:srgbClr val="1A1A1A"/>
                </a:solidFill>
                <a:latin typeface="Calibri"/>
              </a:rPr>
              <a:t> (or the on-device account) so the app can load their business's data.</a:t>
            </a:r>
          </a:p>
          <a:p>
            <a:pPr>
              <a:spcAft>
                <a:spcPts val="1000"/>
              </a:spcAft>
            </a:pPr>
            <a:r>
              <a:rPr sz="1500" b="1" dirty="0">
                <a:solidFill>
                  <a:srgbClr val="1B5E3F"/>
                </a:solidFill>
                <a:latin typeface="Calibri"/>
              </a:rPr>
              <a:t>▸  User can:  </a:t>
            </a:r>
            <a:r>
              <a:rPr sz="1500" b="0" dirty="0">
                <a:solidFill>
                  <a:srgbClr val="1A1A1A"/>
                </a:solidFill>
                <a:latin typeface="Calibri"/>
              </a:rPr>
              <a:t>Enter email/password, toggle password visibility, use “Remember me”, or jump to Forgot Password / Create account.</a:t>
            </a:r>
          </a:p>
          <a:p>
            <a:pPr>
              <a:spcAft>
                <a:spcPts val="1000"/>
              </a:spcAft>
            </a:pPr>
            <a:r>
              <a:rPr sz="1500" b="1" dirty="0">
                <a:solidFill>
                  <a:srgbClr val="1B5E3F"/>
                </a:solidFill>
                <a:latin typeface="Calibri"/>
              </a:rPr>
              <a:t>▸  Notable feature:  </a:t>
            </a:r>
            <a:r>
              <a:rPr sz="1500" b="0" dirty="0">
                <a:solidFill>
                  <a:srgbClr val="1A1A1A"/>
                </a:solidFill>
                <a:latin typeface="Calibri"/>
              </a:rPr>
              <a:t>Marketing panel communicates the app's three pillars </a:t>
            </a:r>
            <a:r>
              <a:rPr lang="en-PH" sz="1500" b="0" dirty="0">
                <a:solidFill>
                  <a:srgbClr val="1A1A1A"/>
                </a:solidFill>
                <a:latin typeface="Calibri"/>
              </a:rPr>
              <a:t>-</a:t>
            </a:r>
            <a:r>
              <a:rPr sz="1500" b="0" dirty="0">
                <a:solidFill>
                  <a:srgbClr val="1A1A1A"/>
                </a:solidFill>
                <a:latin typeface="Calibri"/>
              </a:rPr>
              <a:t> track stock, forecast demand, act on recommendations.</a:t>
            </a:r>
          </a:p>
        </p:txBody>
      </p:sp>
      <p:sp>
        <p:nvSpPr>
          <p:cNvPr id="8" name="TextBox 7"/>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System UI Flow</a:t>
            </a:r>
          </a:p>
        </p:txBody>
      </p:sp>
      <p:sp>
        <p:nvSpPr>
          <p:cNvPr id="9" name="TextBox 8"/>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229600" cy="457200"/>
          </a:xfrm>
          <a:prstGeom prst="rect">
            <a:avLst/>
          </a:prstGeom>
          <a:noFill/>
        </p:spPr>
        <p:txBody>
          <a:bodyPr wrap="square" anchor="t">
            <a:spAutoFit/>
          </a:bodyPr>
          <a:lstStyle/>
          <a:p>
            <a:pPr algn="l">
              <a:lnSpc>
                <a:spcPct val="100000"/>
              </a:lnSpc>
            </a:pPr>
            <a:r>
              <a:rPr sz="2600" b="1" i="0">
                <a:solidFill>
                  <a:srgbClr val="FFFFFF"/>
                </a:solidFill>
                <a:latin typeface="Calibri"/>
              </a:rPr>
              <a:t>Register</a:t>
            </a:r>
          </a:p>
        </p:txBody>
      </p:sp>
      <p:sp>
        <p:nvSpPr>
          <p:cNvPr id="4" name="TextBox 3"/>
          <p:cNvSpPr txBox="1"/>
          <p:nvPr/>
        </p:nvSpPr>
        <p:spPr>
          <a:xfrm>
            <a:off x="457200" y="566928"/>
            <a:ext cx="8229600" cy="320040"/>
          </a:xfrm>
          <a:prstGeom prst="rect">
            <a:avLst/>
          </a:prstGeom>
          <a:noFill/>
        </p:spPr>
        <p:txBody>
          <a:bodyPr wrap="square" anchor="t">
            <a:spAutoFit/>
          </a:bodyPr>
          <a:lstStyle/>
          <a:p>
            <a:pPr algn="l">
              <a:lnSpc>
                <a:spcPct val="100000"/>
              </a:lnSpc>
            </a:pPr>
            <a:r>
              <a:rPr sz="1300" b="0" i="0">
                <a:solidFill>
                  <a:srgbClr val="5FB48C"/>
                </a:solidFill>
                <a:latin typeface="Calibri"/>
              </a:rPr>
              <a:t>Account &amp; business creation</a:t>
            </a:r>
          </a:p>
        </p:txBody>
      </p:sp>
      <p:pic>
        <p:nvPicPr>
          <p:cNvPr id="5" name="Picture 4" descr="02_register.jpg"/>
          <p:cNvPicPr>
            <a:picLocks noChangeAspect="1"/>
          </p:cNvPicPr>
          <p:nvPr/>
        </p:nvPicPr>
        <p:blipFill>
          <a:blip r:embed="rId2"/>
          <a:stretch>
            <a:fillRect/>
          </a:stretch>
        </p:blipFill>
        <p:spPr>
          <a:xfrm>
            <a:off x="457200" y="2396296"/>
            <a:ext cx="5943600" cy="3145536"/>
          </a:xfrm>
          <a:prstGeom prst="rect">
            <a:avLst/>
          </a:prstGeom>
        </p:spPr>
      </p:pic>
      <p:sp>
        <p:nvSpPr>
          <p:cNvPr id="6" name="Rectangle 5"/>
          <p:cNvSpPr/>
          <p:nvPr/>
        </p:nvSpPr>
        <p:spPr>
          <a:xfrm>
            <a:off x="457200" y="2423728"/>
            <a:ext cx="5943600" cy="311810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0" y="2687837"/>
            <a:ext cx="5029200" cy="2323713"/>
          </a:xfrm>
          <a:prstGeom prst="rect">
            <a:avLst/>
          </a:prstGeom>
          <a:noFill/>
        </p:spPr>
        <p:txBody>
          <a:bodyPr wrap="square">
            <a:spAutoFit/>
          </a:bodyPr>
          <a:lstStyle/>
          <a:p>
            <a:pPr>
              <a:spcAft>
                <a:spcPts val="1000"/>
              </a:spcAft>
            </a:pPr>
            <a:r>
              <a:rPr sz="1500" b="1" dirty="0">
                <a:solidFill>
                  <a:srgbClr val="1B5E3F"/>
                </a:solidFill>
                <a:latin typeface="Calibri"/>
              </a:rPr>
              <a:t>▸  What it is:  </a:t>
            </a:r>
            <a:r>
              <a:rPr sz="1500" b="0" dirty="0">
                <a:solidFill>
                  <a:srgbClr val="1A1A1A"/>
                </a:solidFill>
                <a:latin typeface="Calibri"/>
              </a:rPr>
              <a:t>New-user sign-up screen.</a:t>
            </a:r>
          </a:p>
          <a:p>
            <a:pPr>
              <a:spcAft>
                <a:spcPts val="1000"/>
              </a:spcAft>
            </a:pPr>
            <a:r>
              <a:rPr sz="1500" b="1" dirty="0">
                <a:solidFill>
                  <a:srgbClr val="1B5E3F"/>
                </a:solidFill>
                <a:latin typeface="Calibri"/>
              </a:rPr>
              <a:t>▸  Purpose:  </a:t>
            </a:r>
            <a:r>
              <a:rPr sz="1500" b="0" dirty="0">
                <a:solidFill>
                  <a:srgbClr val="1A1A1A"/>
                </a:solidFill>
                <a:latin typeface="Calibri"/>
              </a:rPr>
              <a:t>Creates a user account and a new business record in one step.</a:t>
            </a:r>
          </a:p>
          <a:p>
            <a:pPr>
              <a:spcAft>
                <a:spcPts val="1000"/>
              </a:spcAft>
            </a:pPr>
            <a:r>
              <a:rPr sz="1500" b="1" dirty="0">
                <a:solidFill>
                  <a:srgbClr val="1B5E3F"/>
                </a:solidFill>
                <a:latin typeface="Calibri"/>
              </a:rPr>
              <a:t>▸  User can:  </a:t>
            </a:r>
            <a:r>
              <a:rPr sz="1500" b="0" dirty="0">
                <a:solidFill>
                  <a:srgbClr val="1A1A1A"/>
                </a:solidFill>
                <a:latin typeface="Calibri"/>
              </a:rPr>
              <a:t>Enter name, business name, email, optional phone, and a password (confirmed).</a:t>
            </a:r>
          </a:p>
          <a:p>
            <a:pPr>
              <a:spcAft>
                <a:spcPts val="1000"/>
              </a:spcAft>
            </a:pPr>
            <a:r>
              <a:rPr sz="1500" b="1" dirty="0">
                <a:solidFill>
                  <a:srgbClr val="1B5E3F"/>
                </a:solidFill>
                <a:latin typeface="Calibri"/>
              </a:rPr>
              <a:t>▸  Notable feature:  </a:t>
            </a:r>
            <a:r>
              <a:rPr sz="1500" b="0" dirty="0">
                <a:solidFill>
                  <a:srgbClr val="1A1A1A"/>
                </a:solidFill>
                <a:latin typeface="Calibri"/>
              </a:rPr>
              <a:t>On submit, the new user is automatically enrolled as the business's OWNER </a:t>
            </a:r>
            <a:r>
              <a:rPr lang="en-PH" sz="1500" b="0" dirty="0">
                <a:solidFill>
                  <a:srgbClr val="1A1A1A"/>
                </a:solidFill>
                <a:latin typeface="Calibri"/>
              </a:rPr>
              <a:t>-</a:t>
            </a:r>
            <a:r>
              <a:rPr sz="1500" b="0" dirty="0">
                <a:solidFill>
                  <a:srgbClr val="1A1A1A"/>
                </a:solidFill>
                <a:latin typeface="Calibri"/>
              </a:rPr>
              <a:t> seen next on the Dashboard.</a:t>
            </a:r>
          </a:p>
        </p:txBody>
      </p:sp>
      <p:sp>
        <p:nvSpPr>
          <p:cNvPr id="8" name="TextBox 7"/>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System UI Flow</a:t>
            </a:r>
          </a:p>
        </p:txBody>
      </p:sp>
      <p:sp>
        <p:nvSpPr>
          <p:cNvPr id="9" name="TextBox 8"/>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229600" cy="457200"/>
          </a:xfrm>
          <a:prstGeom prst="rect">
            <a:avLst/>
          </a:prstGeom>
          <a:noFill/>
        </p:spPr>
        <p:txBody>
          <a:bodyPr wrap="square" anchor="t">
            <a:spAutoFit/>
          </a:bodyPr>
          <a:lstStyle/>
          <a:p>
            <a:pPr algn="l">
              <a:lnSpc>
                <a:spcPct val="100000"/>
              </a:lnSpc>
            </a:pPr>
            <a:r>
              <a:rPr sz="2600" b="1" i="0">
                <a:solidFill>
                  <a:srgbClr val="FFFFFF"/>
                </a:solidFill>
                <a:latin typeface="Calibri"/>
              </a:rPr>
              <a:t>Dashboard</a:t>
            </a:r>
          </a:p>
        </p:txBody>
      </p:sp>
      <p:sp>
        <p:nvSpPr>
          <p:cNvPr id="4" name="TextBox 3"/>
          <p:cNvSpPr txBox="1"/>
          <p:nvPr/>
        </p:nvSpPr>
        <p:spPr>
          <a:xfrm>
            <a:off x="457200" y="566928"/>
            <a:ext cx="8229600" cy="320040"/>
          </a:xfrm>
          <a:prstGeom prst="rect">
            <a:avLst/>
          </a:prstGeom>
          <a:noFill/>
        </p:spPr>
        <p:txBody>
          <a:bodyPr wrap="square" anchor="t">
            <a:spAutoFit/>
          </a:bodyPr>
          <a:lstStyle/>
          <a:p>
            <a:pPr algn="l">
              <a:lnSpc>
                <a:spcPct val="100000"/>
              </a:lnSpc>
            </a:pPr>
            <a:r>
              <a:rPr sz="1300" b="0" i="0">
                <a:solidFill>
                  <a:srgbClr val="5FB48C"/>
                </a:solidFill>
                <a:latin typeface="Calibri"/>
              </a:rPr>
              <a:t>Home / business overview</a:t>
            </a:r>
          </a:p>
        </p:txBody>
      </p:sp>
      <p:pic>
        <p:nvPicPr>
          <p:cNvPr id="5" name="Picture 4" descr="03_dashboard.jpg"/>
          <p:cNvPicPr>
            <a:picLocks noChangeAspect="1"/>
          </p:cNvPicPr>
          <p:nvPr/>
        </p:nvPicPr>
        <p:blipFill>
          <a:blip r:embed="rId2"/>
          <a:stretch>
            <a:fillRect/>
          </a:stretch>
        </p:blipFill>
        <p:spPr>
          <a:xfrm>
            <a:off x="457200" y="2327200"/>
            <a:ext cx="5943600" cy="3044987"/>
          </a:xfrm>
          <a:prstGeom prst="rect">
            <a:avLst/>
          </a:prstGeom>
        </p:spPr>
      </p:pic>
      <p:sp>
        <p:nvSpPr>
          <p:cNvPr id="6" name="Rectangle 5"/>
          <p:cNvSpPr/>
          <p:nvPr/>
        </p:nvSpPr>
        <p:spPr>
          <a:xfrm>
            <a:off x="457200" y="2336483"/>
            <a:ext cx="5943600" cy="303570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0" y="2572421"/>
            <a:ext cx="5029200" cy="2554545"/>
          </a:xfrm>
          <a:prstGeom prst="rect">
            <a:avLst/>
          </a:prstGeom>
          <a:noFill/>
        </p:spPr>
        <p:txBody>
          <a:bodyPr wrap="square">
            <a:spAutoFit/>
          </a:bodyPr>
          <a:lstStyle/>
          <a:p>
            <a:pPr>
              <a:spcAft>
                <a:spcPts val="1000"/>
              </a:spcAft>
            </a:pPr>
            <a:r>
              <a:rPr sz="1500" b="1" dirty="0">
                <a:solidFill>
                  <a:srgbClr val="1B5E3F"/>
                </a:solidFill>
                <a:latin typeface="Calibri"/>
              </a:rPr>
              <a:t>▸  What it is:  </a:t>
            </a:r>
            <a:r>
              <a:rPr sz="1500" b="0" dirty="0">
                <a:solidFill>
                  <a:srgbClr val="1A1A1A"/>
                </a:solidFill>
                <a:latin typeface="Calibri"/>
              </a:rPr>
              <a:t>The landing screen after login </a:t>
            </a:r>
            <a:r>
              <a:rPr lang="en-PH" sz="1500" b="0" dirty="0">
                <a:solidFill>
                  <a:srgbClr val="1A1A1A"/>
                </a:solidFill>
                <a:latin typeface="Calibri"/>
              </a:rPr>
              <a:t>-</a:t>
            </a:r>
            <a:r>
              <a:rPr sz="1500" b="0" dirty="0">
                <a:solidFill>
                  <a:srgbClr val="1A1A1A"/>
                </a:solidFill>
                <a:latin typeface="Calibri"/>
              </a:rPr>
              <a:t> a snapshot of the whole business.</a:t>
            </a:r>
          </a:p>
          <a:p>
            <a:pPr>
              <a:spcAft>
                <a:spcPts val="1000"/>
              </a:spcAft>
            </a:pPr>
            <a:r>
              <a:rPr sz="1500" b="1" dirty="0">
                <a:solidFill>
                  <a:srgbClr val="1B5E3F"/>
                </a:solidFill>
                <a:latin typeface="Calibri"/>
              </a:rPr>
              <a:t>▸  Purpose:  </a:t>
            </a:r>
            <a:r>
              <a:rPr sz="1500" b="0" dirty="0">
                <a:solidFill>
                  <a:srgbClr val="1A1A1A"/>
                </a:solidFill>
                <a:latin typeface="Calibri"/>
              </a:rPr>
              <a:t>Surface what needs attention today: sales, expenses, low stock, and AI alerts, at a glance.</a:t>
            </a:r>
          </a:p>
          <a:p>
            <a:pPr>
              <a:spcAft>
                <a:spcPts val="1000"/>
              </a:spcAft>
            </a:pPr>
            <a:r>
              <a:rPr sz="1500" b="1" dirty="0">
                <a:solidFill>
                  <a:srgbClr val="1B5E3F"/>
                </a:solidFill>
                <a:latin typeface="Calibri"/>
              </a:rPr>
              <a:t>▸  User can:  </a:t>
            </a:r>
            <a:r>
              <a:rPr sz="1500" b="0" dirty="0">
                <a:solidFill>
                  <a:srgbClr val="1A1A1A"/>
                </a:solidFill>
                <a:latin typeface="Calibri"/>
              </a:rPr>
              <a:t>Jump into Record Sale, export data, or drill into any summary card / critical alert.</a:t>
            </a:r>
          </a:p>
          <a:p>
            <a:pPr>
              <a:spcAft>
                <a:spcPts val="1000"/>
              </a:spcAft>
            </a:pPr>
            <a:r>
              <a:rPr sz="1500" b="1" dirty="0">
                <a:solidFill>
                  <a:srgbClr val="1B5E3F"/>
                </a:solidFill>
                <a:latin typeface="Calibri"/>
              </a:rPr>
              <a:t>▸  Notable feature:  </a:t>
            </a:r>
            <a:r>
              <a:rPr sz="1500" b="0" dirty="0">
                <a:solidFill>
                  <a:srgbClr val="1A1A1A"/>
                </a:solidFill>
                <a:latin typeface="Calibri"/>
              </a:rPr>
              <a:t>“Critical alerts” and “AI Alerts” cards surface the app's rule-based decision-support layer right on the home screen.</a:t>
            </a:r>
          </a:p>
        </p:txBody>
      </p:sp>
      <p:sp>
        <p:nvSpPr>
          <p:cNvPr id="8" name="TextBox 7"/>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System UI Flow</a:t>
            </a:r>
          </a:p>
        </p:txBody>
      </p:sp>
      <p:sp>
        <p:nvSpPr>
          <p:cNvPr id="9" name="TextBox 8"/>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229600" cy="457200"/>
          </a:xfrm>
          <a:prstGeom prst="rect">
            <a:avLst/>
          </a:prstGeom>
          <a:noFill/>
        </p:spPr>
        <p:txBody>
          <a:bodyPr wrap="square" anchor="t">
            <a:spAutoFit/>
          </a:bodyPr>
          <a:lstStyle/>
          <a:p>
            <a:pPr algn="l">
              <a:lnSpc>
                <a:spcPct val="100000"/>
              </a:lnSpc>
            </a:pPr>
            <a:r>
              <a:rPr sz="2600" b="1" i="0">
                <a:solidFill>
                  <a:srgbClr val="FFFFFF"/>
                </a:solidFill>
                <a:latin typeface="Calibri"/>
              </a:rPr>
              <a:t>Inventory</a:t>
            </a:r>
          </a:p>
        </p:txBody>
      </p:sp>
      <p:sp>
        <p:nvSpPr>
          <p:cNvPr id="4" name="TextBox 3"/>
          <p:cNvSpPr txBox="1"/>
          <p:nvPr/>
        </p:nvSpPr>
        <p:spPr>
          <a:xfrm>
            <a:off x="457200" y="566928"/>
            <a:ext cx="8229600" cy="320040"/>
          </a:xfrm>
          <a:prstGeom prst="rect">
            <a:avLst/>
          </a:prstGeom>
          <a:noFill/>
        </p:spPr>
        <p:txBody>
          <a:bodyPr wrap="square" anchor="t">
            <a:spAutoFit/>
          </a:bodyPr>
          <a:lstStyle/>
          <a:p>
            <a:pPr algn="l">
              <a:lnSpc>
                <a:spcPct val="100000"/>
              </a:lnSpc>
            </a:pPr>
            <a:r>
              <a:rPr sz="1300" b="0" i="0">
                <a:solidFill>
                  <a:srgbClr val="5FB48C"/>
                </a:solidFill>
                <a:latin typeface="Calibri"/>
              </a:rPr>
              <a:t>Product catalogue &amp; stock levels</a:t>
            </a:r>
          </a:p>
        </p:txBody>
      </p:sp>
      <p:pic>
        <p:nvPicPr>
          <p:cNvPr id="5" name="Picture 4" descr="04_inventory.jpg"/>
          <p:cNvPicPr>
            <a:picLocks noChangeAspect="1"/>
          </p:cNvPicPr>
          <p:nvPr/>
        </p:nvPicPr>
        <p:blipFill>
          <a:blip r:embed="rId2"/>
          <a:stretch>
            <a:fillRect/>
          </a:stretch>
        </p:blipFill>
        <p:spPr>
          <a:xfrm>
            <a:off x="384048" y="2458498"/>
            <a:ext cx="5943600" cy="2660974"/>
          </a:xfrm>
          <a:prstGeom prst="rect">
            <a:avLst/>
          </a:prstGeom>
        </p:spPr>
      </p:pic>
      <p:sp>
        <p:nvSpPr>
          <p:cNvPr id="6" name="Rectangle 5"/>
          <p:cNvSpPr/>
          <p:nvPr/>
        </p:nvSpPr>
        <p:spPr>
          <a:xfrm>
            <a:off x="384048" y="2458498"/>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0" y="2511712"/>
            <a:ext cx="5029200" cy="2554545"/>
          </a:xfrm>
          <a:prstGeom prst="rect">
            <a:avLst/>
          </a:prstGeom>
          <a:noFill/>
        </p:spPr>
        <p:txBody>
          <a:bodyPr wrap="square">
            <a:spAutoFit/>
          </a:bodyPr>
          <a:lstStyle/>
          <a:p>
            <a:pPr>
              <a:spcAft>
                <a:spcPts val="1000"/>
              </a:spcAft>
            </a:pPr>
            <a:r>
              <a:rPr sz="1500" b="1" dirty="0">
                <a:solidFill>
                  <a:srgbClr val="1B5E3F"/>
                </a:solidFill>
                <a:latin typeface="Calibri"/>
              </a:rPr>
              <a:t>▸  What it is:  </a:t>
            </a:r>
            <a:r>
              <a:rPr sz="1500" b="0" dirty="0">
                <a:solidFill>
                  <a:srgbClr val="1A1A1A"/>
                </a:solidFill>
                <a:latin typeface="Calibri"/>
              </a:rPr>
              <a:t>The full product catalogue for the business.</a:t>
            </a:r>
          </a:p>
          <a:p>
            <a:pPr>
              <a:spcAft>
                <a:spcPts val="1000"/>
              </a:spcAft>
            </a:pPr>
            <a:r>
              <a:rPr sz="1500" b="1" dirty="0">
                <a:solidFill>
                  <a:srgbClr val="1B5E3F"/>
                </a:solidFill>
                <a:latin typeface="Calibri"/>
              </a:rPr>
              <a:t>▸  Purpose:  </a:t>
            </a:r>
            <a:r>
              <a:rPr sz="1500" b="0" dirty="0">
                <a:solidFill>
                  <a:srgbClr val="1A1A1A"/>
                </a:solidFill>
                <a:latin typeface="Calibri"/>
              </a:rPr>
              <a:t>Track stock on hand against minimum thresholds, supplier, and pricing per product.</a:t>
            </a:r>
          </a:p>
          <a:p>
            <a:pPr>
              <a:spcAft>
                <a:spcPts val="1000"/>
              </a:spcAft>
            </a:pPr>
            <a:r>
              <a:rPr sz="1500" b="1" dirty="0">
                <a:solidFill>
                  <a:srgbClr val="1B5E3F"/>
                </a:solidFill>
                <a:latin typeface="Calibri"/>
              </a:rPr>
              <a:t>▸  User can:  </a:t>
            </a:r>
            <a:r>
              <a:rPr sz="1500" b="0" dirty="0">
                <a:solidFill>
                  <a:srgbClr val="1A1A1A"/>
                </a:solidFill>
                <a:latin typeface="Calibri"/>
              </a:rPr>
              <a:t>Search/filter by status (Critical/Low/Healthy), add a product, or edit/delete existing ones (manager roles only).</a:t>
            </a:r>
          </a:p>
          <a:p>
            <a:pPr>
              <a:spcAft>
                <a:spcPts val="1000"/>
              </a:spcAft>
            </a:pPr>
            <a:r>
              <a:rPr sz="1500" b="1" dirty="0">
                <a:solidFill>
                  <a:srgbClr val="1B5E3F"/>
                </a:solidFill>
                <a:latin typeface="Calibri"/>
              </a:rPr>
              <a:t>▸  Notable feature:  </a:t>
            </a:r>
            <a:r>
              <a:rPr sz="1500" b="0" dirty="0">
                <a:solidFill>
                  <a:srgbClr val="1A1A1A"/>
                </a:solidFill>
                <a:latin typeface="Calibri"/>
              </a:rPr>
              <a:t>Status badges (Low Stock, Healthy) are computed live from stock vs. minimum </a:t>
            </a:r>
            <a:r>
              <a:rPr lang="en-PH" sz="1500" b="0" dirty="0">
                <a:solidFill>
                  <a:srgbClr val="1A1A1A"/>
                </a:solidFill>
                <a:latin typeface="Calibri"/>
              </a:rPr>
              <a:t>-</a:t>
            </a:r>
            <a:r>
              <a:rPr sz="1500" b="0" dirty="0">
                <a:solidFill>
                  <a:srgbClr val="1A1A1A"/>
                </a:solidFill>
                <a:latin typeface="Calibri"/>
              </a:rPr>
              <a:t> feeding the Alerts and AI features.</a:t>
            </a:r>
          </a:p>
        </p:txBody>
      </p:sp>
      <p:sp>
        <p:nvSpPr>
          <p:cNvPr id="8" name="TextBox 7"/>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System UI Flow</a:t>
            </a:r>
          </a:p>
        </p:txBody>
      </p:sp>
      <p:sp>
        <p:nvSpPr>
          <p:cNvPr id="9" name="TextBox 8"/>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229600" cy="457200"/>
          </a:xfrm>
          <a:prstGeom prst="rect">
            <a:avLst/>
          </a:prstGeom>
          <a:noFill/>
        </p:spPr>
        <p:txBody>
          <a:bodyPr wrap="square" anchor="t">
            <a:spAutoFit/>
          </a:bodyPr>
          <a:lstStyle/>
          <a:p>
            <a:pPr algn="l">
              <a:lnSpc>
                <a:spcPct val="100000"/>
              </a:lnSpc>
            </a:pPr>
            <a:r>
              <a:rPr sz="2600" b="1" i="0">
                <a:solidFill>
                  <a:srgbClr val="FFFFFF"/>
                </a:solidFill>
                <a:latin typeface="Calibri"/>
              </a:rPr>
              <a:t>Product Details</a:t>
            </a:r>
          </a:p>
        </p:txBody>
      </p:sp>
      <p:sp>
        <p:nvSpPr>
          <p:cNvPr id="4" name="TextBox 3"/>
          <p:cNvSpPr txBox="1"/>
          <p:nvPr/>
        </p:nvSpPr>
        <p:spPr>
          <a:xfrm>
            <a:off x="457200" y="566928"/>
            <a:ext cx="8229600" cy="320040"/>
          </a:xfrm>
          <a:prstGeom prst="rect">
            <a:avLst/>
          </a:prstGeom>
          <a:noFill/>
        </p:spPr>
        <p:txBody>
          <a:bodyPr wrap="square" anchor="t">
            <a:spAutoFit/>
          </a:bodyPr>
          <a:lstStyle/>
          <a:p>
            <a:pPr algn="l">
              <a:lnSpc>
                <a:spcPct val="100000"/>
              </a:lnSpc>
            </a:pPr>
            <a:r>
              <a:rPr sz="1300" b="0" i="0">
                <a:solidFill>
                  <a:srgbClr val="5FB48C"/>
                </a:solidFill>
                <a:latin typeface="Calibri"/>
              </a:rPr>
              <a:t>Single product deep-dive</a:t>
            </a:r>
          </a:p>
        </p:txBody>
      </p:sp>
      <p:pic>
        <p:nvPicPr>
          <p:cNvPr id="5" name="Picture 4" descr="05_product_details.jpg"/>
          <p:cNvPicPr>
            <a:picLocks noChangeAspect="1"/>
          </p:cNvPicPr>
          <p:nvPr/>
        </p:nvPicPr>
        <p:blipFill>
          <a:blip r:embed="rId2"/>
          <a:stretch>
            <a:fillRect/>
          </a:stretch>
        </p:blipFill>
        <p:spPr>
          <a:xfrm>
            <a:off x="457200" y="2274551"/>
            <a:ext cx="5943600" cy="2967263"/>
          </a:xfrm>
          <a:prstGeom prst="rect">
            <a:avLst/>
          </a:prstGeom>
        </p:spPr>
      </p:pic>
      <p:sp>
        <p:nvSpPr>
          <p:cNvPr id="6" name="Rectangle 5"/>
          <p:cNvSpPr/>
          <p:nvPr/>
        </p:nvSpPr>
        <p:spPr>
          <a:xfrm>
            <a:off x="457200" y="2427697"/>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0" y="2596327"/>
            <a:ext cx="5029200" cy="2323713"/>
          </a:xfrm>
          <a:prstGeom prst="rect">
            <a:avLst/>
          </a:prstGeom>
          <a:noFill/>
        </p:spPr>
        <p:txBody>
          <a:bodyPr wrap="square">
            <a:spAutoFit/>
          </a:bodyPr>
          <a:lstStyle/>
          <a:p>
            <a:pPr>
              <a:spcAft>
                <a:spcPts val="1000"/>
              </a:spcAft>
            </a:pPr>
            <a:r>
              <a:rPr sz="1500" b="1" dirty="0">
                <a:solidFill>
                  <a:srgbClr val="1B5E3F"/>
                </a:solidFill>
                <a:latin typeface="Calibri"/>
              </a:rPr>
              <a:t>▸  What it is:  </a:t>
            </a:r>
            <a:r>
              <a:rPr sz="1500" b="0" dirty="0">
                <a:solidFill>
                  <a:srgbClr val="1A1A1A"/>
                </a:solidFill>
                <a:latin typeface="Calibri"/>
              </a:rPr>
              <a:t>A drill-down view for one product.</a:t>
            </a:r>
          </a:p>
          <a:p>
            <a:pPr>
              <a:spcAft>
                <a:spcPts val="1000"/>
              </a:spcAft>
            </a:pPr>
            <a:r>
              <a:rPr sz="1500" b="1" dirty="0">
                <a:solidFill>
                  <a:srgbClr val="1B5E3F"/>
                </a:solidFill>
                <a:latin typeface="Calibri"/>
              </a:rPr>
              <a:t>▸  Purpose:  </a:t>
            </a:r>
            <a:r>
              <a:rPr sz="1500" b="0" dirty="0">
                <a:solidFill>
                  <a:srgbClr val="1A1A1A"/>
                </a:solidFill>
                <a:latin typeface="Calibri"/>
              </a:rPr>
              <a:t>Show sales trend, inventory movement, margin, and supplier info for that specific item.</a:t>
            </a:r>
          </a:p>
          <a:p>
            <a:pPr>
              <a:spcAft>
                <a:spcPts val="1000"/>
              </a:spcAft>
            </a:pPr>
            <a:r>
              <a:rPr sz="1500" b="1" dirty="0">
                <a:solidFill>
                  <a:srgbClr val="1B5E3F"/>
                </a:solidFill>
                <a:latin typeface="Calibri"/>
              </a:rPr>
              <a:t>▸  User can:  </a:t>
            </a:r>
            <a:r>
              <a:rPr sz="1500" b="0" dirty="0">
                <a:solidFill>
                  <a:srgbClr val="1A1A1A"/>
                </a:solidFill>
                <a:latin typeface="Calibri"/>
              </a:rPr>
              <a:t>Review 7/14-day trend charts, view supplier reliability/pricing, or record a purchase directly.</a:t>
            </a:r>
          </a:p>
          <a:p>
            <a:pPr>
              <a:spcAft>
                <a:spcPts val="1000"/>
              </a:spcAft>
            </a:pPr>
            <a:r>
              <a:rPr sz="1500" b="1" dirty="0">
                <a:solidFill>
                  <a:srgbClr val="1B5E3F"/>
                </a:solidFill>
                <a:latin typeface="Calibri"/>
              </a:rPr>
              <a:t>▸  Notable feature:  </a:t>
            </a:r>
            <a:r>
              <a:rPr sz="1500" b="0" dirty="0">
                <a:solidFill>
                  <a:srgbClr val="1A1A1A"/>
                </a:solidFill>
                <a:latin typeface="Calibri"/>
              </a:rPr>
              <a:t>“Days of cover” is calculated from the recent sale rate </a:t>
            </a:r>
            <a:r>
              <a:rPr lang="en-PH" sz="1500" b="0" dirty="0">
                <a:solidFill>
                  <a:srgbClr val="1A1A1A"/>
                </a:solidFill>
                <a:latin typeface="Calibri"/>
              </a:rPr>
              <a:t>-</a:t>
            </a:r>
            <a:r>
              <a:rPr sz="1500" b="0" dirty="0">
                <a:solidFill>
                  <a:srgbClr val="1A1A1A"/>
                </a:solidFill>
                <a:latin typeface="Calibri"/>
              </a:rPr>
              <a:t> an early, simple example of the app's forecasting logic.</a:t>
            </a:r>
          </a:p>
        </p:txBody>
      </p:sp>
      <p:sp>
        <p:nvSpPr>
          <p:cNvPr id="8" name="TextBox 7"/>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System UI Flow</a:t>
            </a:r>
          </a:p>
        </p:txBody>
      </p:sp>
      <p:sp>
        <p:nvSpPr>
          <p:cNvPr id="9" name="TextBox 8"/>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229600" cy="457200"/>
          </a:xfrm>
          <a:prstGeom prst="rect">
            <a:avLst/>
          </a:prstGeom>
          <a:noFill/>
        </p:spPr>
        <p:txBody>
          <a:bodyPr wrap="square" anchor="t">
            <a:spAutoFit/>
          </a:bodyPr>
          <a:lstStyle/>
          <a:p>
            <a:pPr algn="l">
              <a:lnSpc>
                <a:spcPct val="100000"/>
              </a:lnSpc>
            </a:pPr>
            <a:r>
              <a:rPr sz="2600" b="1" i="0">
                <a:solidFill>
                  <a:srgbClr val="FFFFFF"/>
                </a:solidFill>
                <a:latin typeface="Calibri"/>
              </a:rPr>
              <a:t>Sales</a:t>
            </a:r>
          </a:p>
        </p:txBody>
      </p:sp>
      <p:sp>
        <p:nvSpPr>
          <p:cNvPr id="4" name="TextBox 3"/>
          <p:cNvSpPr txBox="1"/>
          <p:nvPr/>
        </p:nvSpPr>
        <p:spPr>
          <a:xfrm>
            <a:off x="457200" y="566928"/>
            <a:ext cx="8229600" cy="320040"/>
          </a:xfrm>
          <a:prstGeom prst="rect">
            <a:avLst/>
          </a:prstGeom>
          <a:noFill/>
        </p:spPr>
        <p:txBody>
          <a:bodyPr wrap="square" anchor="t">
            <a:spAutoFit/>
          </a:bodyPr>
          <a:lstStyle/>
          <a:p>
            <a:pPr algn="l">
              <a:lnSpc>
                <a:spcPct val="100000"/>
              </a:lnSpc>
            </a:pPr>
            <a:r>
              <a:rPr sz="1300" b="0" i="0">
                <a:solidFill>
                  <a:srgbClr val="5FB48C"/>
                </a:solidFill>
                <a:latin typeface="Calibri"/>
              </a:rPr>
              <a:t>Record &amp; review transactions</a:t>
            </a:r>
          </a:p>
        </p:txBody>
      </p:sp>
      <p:pic>
        <p:nvPicPr>
          <p:cNvPr id="5" name="Picture 4" descr="06_sales.jpg"/>
          <p:cNvPicPr>
            <a:picLocks noChangeAspect="1"/>
          </p:cNvPicPr>
          <p:nvPr/>
        </p:nvPicPr>
        <p:blipFill>
          <a:blip r:embed="rId2"/>
          <a:stretch>
            <a:fillRect/>
          </a:stretch>
        </p:blipFill>
        <p:spPr>
          <a:xfrm>
            <a:off x="457200" y="2208276"/>
            <a:ext cx="5943600" cy="3191256"/>
          </a:xfrm>
          <a:prstGeom prst="rect">
            <a:avLst/>
          </a:prstGeom>
        </p:spPr>
      </p:pic>
      <p:sp>
        <p:nvSpPr>
          <p:cNvPr id="6" name="Rectangle 5"/>
          <p:cNvSpPr/>
          <p:nvPr/>
        </p:nvSpPr>
        <p:spPr>
          <a:xfrm>
            <a:off x="457200" y="2253996"/>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0" y="2422626"/>
            <a:ext cx="5029200" cy="2323713"/>
          </a:xfrm>
          <a:prstGeom prst="rect">
            <a:avLst/>
          </a:prstGeom>
          <a:noFill/>
        </p:spPr>
        <p:txBody>
          <a:bodyPr wrap="square">
            <a:spAutoFit/>
          </a:bodyPr>
          <a:lstStyle/>
          <a:p>
            <a:pPr>
              <a:spcAft>
                <a:spcPts val="1000"/>
              </a:spcAft>
            </a:pPr>
            <a:r>
              <a:rPr sz="1500" b="1" dirty="0">
                <a:solidFill>
                  <a:srgbClr val="1B5E3F"/>
                </a:solidFill>
                <a:latin typeface="Calibri"/>
              </a:rPr>
              <a:t>▸  What it is:  </a:t>
            </a:r>
            <a:r>
              <a:rPr sz="1500" b="0" dirty="0">
                <a:solidFill>
                  <a:srgbClr val="1A1A1A"/>
                </a:solidFill>
                <a:latin typeface="Calibri"/>
              </a:rPr>
              <a:t>The sales ledger </a:t>
            </a:r>
            <a:r>
              <a:rPr lang="en-PH" sz="1500" b="0" dirty="0">
                <a:solidFill>
                  <a:srgbClr val="1A1A1A"/>
                </a:solidFill>
                <a:latin typeface="Calibri"/>
              </a:rPr>
              <a:t>-</a:t>
            </a:r>
            <a:r>
              <a:rPr sz="1500" b="0" dirty="0">
                <a:solidFill>
                  <a:srgbClr val="1A1A1A"/>
                </a:solidFill>
                <a:latin typeface="Calibri"/>
              </a:rPr>
              <a:t> every recorded sale, plus daily/weekly/monthly summaries.</a:t>
            </a:r>
          </a:p>
          <a:p>
            <a:pPr>
              <a:spcAft>
                <a:spcPts val="1000"/>
              </a:spcAft>
            </a:pPr>
            <a:r>
              <a:rPr sz="1500" b="1" dirty="0">
                <a:solidFill>
                  <a:srgbClr val="1B5E3F"/>
                </a:solidFill>
                <a:latin typeface="Calibri"/>
              </a:rPr>
              <a:t>▸  Purpose:  </a:t>
            </a:r>
            <a:r>
              <a:rPr sz="1500" b="0" dirty="0">
                <a:solidFill>
                  <a:srgbClr val="1A1A1A"/>
                </a:solidFill>
                <a:latin typeface="Calibri"/>
              </a:rPr>
              <a:t>Capture revenue as it happens so downstream forecasts and reports stay accurate.</a:t>
            </a:r>
          </a:p>
          <a:p>
            <a:pPr>
              <a:spcAft>
                <a:spcPts val="1000"/>
              </a:spcAft>
            </a:pPr>
            <a:r>
              <a:rPr sz="1500" b="1" dirty="0">
                <a:solidFill>
                  <a:srgbClr val="1B5E3F"/>
                </a:solidFill>
                <a:latin typeface="Calibri"/>
              </a:rPr>
              <a:t>▸  User can:  </a:t>
            </a:r>
            <a:r>
              <a:rPr sz="1500" b="0" dirty="0">
                <a:solidFill>
                  <a:srgbClr val="1A1A1A"/>
                </a:solidFill>
                <a:latin typeface="Calibri"/>
              </a:rPr>
              <a:t>View today/this week/this month totals and a 7-day trend, or add a new sale.</a:t>
            </a:r>
          </a:p>
          <a:p>
            <a:pPr>
              <a:spcAft>
                <a:spcPts val="1000"/>
              </a:spcAft>
            </a:pPr>
            <a:r>
              <a:rPr sz="1500" b="1" dirty="0">
                <a:solidFill>
                  <a:srgbClr val="1B5E3F"/>
                </a:solidFill>
                <a:latin typeface="Calibri"/>
              </a:rPr>
              <a:t>▸  Notable feature:  </a:t>
            </a:r>
            <a:r>
              <a:rPr sz="1500" b="0" dirty="0">
                <a:solidFill>
                  <a:srgbClr val="1A1A1A"/>
                </a:solidFill>
                <a:latin typeface="Calibri"/>
              </a:rPr>
              <a:t>“Add Sale” opens the app's modal-based data-entry pattern (next slide).</a:t>
            </a:r>
          </a:p>
        </p:txBody>
      </p:sp>
      <p:sp>
        <p:nvSpPr>
          <p:cNvPr id="8" name="TextBox 7"/>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System UI Flow</a:t>
            </a:r>
          </a:p>
        </p:txBody>
      </p:sp>
      <p:sp>
        <p:nvSpPr>
          <p:cNvPr id="9" name="TextBox 8"/>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9</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229600" cy="457200"/>
          </a:xfrm>
          <a:prstGeom prst="rect">
            <a:avLst/>
          </a:prstGeom>
          <a:noFill/>
        </p:spPr>
        <p:txBody>
          <a:bodyPr wrap="square" anchor="t">
            <a:spAutoFit/>
          </a:bodyPr>
          <a:lstStyle/>
          <a:p>
            <a:pPr algn="l">
              <a:lnSpc>
                <a:spcPct val="100000"/>
              </a:lnSpc>
            </a:pPr>
            <a:r>
              <a:rPr sz="2600" b="1" i="0">
                <a:solidFill>
                  <a:srgbClr val="FFFFFF"/>
                </a:solidFill>
                <a:latin typeface="Calibri"/>
              </a:rPr>
              <a:t>Add Sale (Modal)</a:t>
            </a:r>
          </a:p>
        </p:txBody>
      </p:sp>
      <p:sp>
        <p:nvSpPr>
          <p:cNvPr id="4" name="TextBox 3"/>
          <p:cNvSpPr txBox="1"/>
          <p:nvPr/>
        </p:nvSpPr>
        <p:spPr>
          <a:xfrm>
            <a:off x="457200" y="566928"/>
            <a:ext cx="8229600" cy="320040"/>
          </a:xfrm>
          <a:prstGeom prst="rect">
            <a:avLst/>
          </a:prstGeom>
          <a:noFill/>
        </p:spPr>
        <p:txBody>
          <a:bodyPr wrap="square" anchor="t">
            <a:spAutoFit/>
          </a:bodyPr>
          <a:lstStyle/>
          <a:p>
            <a:pPr algn="l">
              <a:lnSpc>
                <a:spcPct val="100000"/>
              </a:lnSpc>
            </a:pPr>
            <a:r>
              <a:rPr sz="1300" b="0" i="0">
                <a:solidFill>
                  <a:srgbClr val="5FB48C"/>
                </a:solidFill>
                <a:latin typeface="Calibri"/>
              </a:rPr>
              <a:t>Data-entry example</a:t>
            </a:r>
          </a:p>
        </p:txBody>
      </p:sp>
      <p:pic>
        <p:nvPicPr>
          <p:cNvPr id="5" name="Picture 4" descr="07_add_sale_modal.jpg"/>
          <p:cNvPicPr>
            <a:picLocks noChangeAspect="1"/>
          </p:cNvPicPr>
          <p:nvPr/>
        </p:nvPicPr>
        <p:blipFill>
          <a:blip r:embed="rId2"/>
          <a:stretch>
            <a:fillRect/>
          </a:stretch>
        </p:blipFill>
        <p:spPr>
          <a:xfrm>
            <a:off x="457200" y="2270910"/>
            <a:ext cx="5943600" cy="3157568"/>
          </a:xfrm>
          <a:prstGeom prst="rect">
            <a:avLst/>
          </a:prstGeom>
        </p:spPr>
      </p:pic>
      <p:sp>
        <p:nvSpPr>
          <p:cNvPr id="6" name="Rectangle 5"/>
          <p:cNvSpPr/>
          <p:nvPr/>
        </p:nvSpPr>
        <p:spPr>
          <a:xfrm>
            <a:off x="457200" y="2270910"/>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0" y="2517487"/>
            <a:ext cx="5029200" cy="2554545"/>
          </a:xfrm>
          <a:prstGeom prst="rect">
            <a:avLst/>
          </a:prstGeom>
          <a:noFill/>
        </p:spPr>
        <p:txBody>
          <a:bodyPr wrap="square">
            <a:spAutoFit/>
          </a:bodyPr>
          <a:lstStyle/>
          <a:p>
            <a:pPr>
              <a:spcAft>
                <a:spcPts val="1000"/>
              </a:spcAft>
            </a:pPr>
            <a:r>
              <a:rPr sz="1500" b="1" dirty="0">
                <a:solidFill>
                  <a:srgbClr val="1B5E3F"/>
                </a:solidFill>
                <a:latin typeface="Calibri"/>
              </a:rPr>
              <a:t>▸  What it is:  </a:t>
            </a:r>
            <a:r>
              <a:rPr sz="1500" b="0" dirty="0">
                <a:solidFill>
                  <a:srgbClr val="1A1A1A"/>
                </a:solidFill>
                <a:latin typeface="Calibri"/>
              </a:rPr>
              <a:t>The data-entry dialog used to record a new sale.</a:t>
            </a:r>
          </a:p>
          <a:p>
            <a:pPr>
              <a:spcAft>
                <a:spcPts val="1000"/>
              </a:spcAft>
            </a:pPr>
            <a:r>
              <a:rPr sz="1500" b="1" dirty="0">
                <a:solidFill>
                  <a:srgbClr val="1B5E3F"/>
                </a:solidFill>
                <a:latin typeface="Calibri"/>
              </a:rPr>
              <a:t>▸  Purpose:  </a:t>
            </a:r>
            <a:r>
              <a:rPr sz="1500" b="0" dirty="0">
                <a:solidFill>
                  <a:srgbClr val="1A1A1A"/>
                </a:solidFill>
                <a:latin typeface="Calibri"/>
              </a:rPr>
              <a:t>Capture a transaction (product, quantity, unit price, date, payment method) without leaving the Sales page.</a:t>
            </a:r>
          </a:p>
          <a:p>
            <a:pPr>
              <a:spcAft>
                <a:spcPts val="1000"/>
              </a:spcAft>
            </a:pPr>
            <a:r>
              <a:rPr sz="1500" b="1" dirty="0">
                <a:solidFill>
                  <a:srgbClr val="1B5E3F"/>
                </a:solidFill>
                <a:latin typeface="Calibri"/>
              </a:rPr>
              <a:t>▸  User can:  </a:t>
            </a:r>
            <a:r>
              <a:rPr sz="1500" b="0" dirty="0">
                <a:solidFill>
                  <a:srgbClr val="1A1A1A"/>
                </a:solidFill>
                <a:latin typeface="Calibri"/>
              </a:rPr>
              <a:t>Pick a product, set quantity/price/date/payment method, then confirm or cancel.</a:t>
            </a:r>
          </a:p>
          <a:p>
            <a:pPr>
              <a:spcAft>
                <a:spcPts val="1000"/>
              </a:spcAft>
            </a:pPr>
            <a:r>
              <a:rPr sz="1500" b="1" dirty="0">
                <a:solidFill>
                  <a:srgbClr val="1B5E3F"/>
                </a:solidFill>
                <a:latin typeface="Calibri"/>
              </a:rPr>
              <a:t>▸  Notable feature:  </a:t>
            </a:r>
            <a:r>
              <a:rPr sz="1500" b="0" dirty="0">
                <a:solidFill>
                  <a:srgbClr val="1A1A1A"/>
                </a:solidFill>
                <a:latin typeface="Calibri"/>
              </a:rPr>
              <a:t>This dialog is built on </a:t>
            </a:r>
            <a:r>
              <a:rPr sz="1500" b="0" dirty="0" err="1">
                <a:solidFill>
                  <a:srgbClr val="1A1A1A"/>
                </a:solidFill>
                <a:latin typeface="Calibri"/>
              </a:rPr>
              <a:t>Ionic's</a:t>
            </a:r>
            <a:r>
              <a:rPr sz="1500" b="0" dirty="0">
                <a:solidFill>
                  <a:srgbClr val="1A1A1A"/>
                </a:solidFill>
                <a:latin typeface="Calibri"/>
              </a:rPr>
              <a:t> </a:t>
            </a:r>
            <a:r>
              <a:rPr sz="1500" b="0" dirty="0" err="1">
                <a:solidFill>
                  <a:srgbClr val="1A1A1A"/>
                </a:solidFill>
                <a:latin typeface="Calibri"/>
              </a:rPr>
              <a:t>IonModal</a:t>
            </a:r>
            <a:r>
              <a:rPr sz="1500" b="0" dirty="0">
                <a:solidFill>
                  <a:srgbClr val="1A1A1A"/>
                </a:solidFill>
                <a:latin typeface="Calibri"/>
              </a:rPr>
              <a:t> component </a:t>
            </a:r>
            <a:r>
              <a:rPr lang="en-PH" sz="1500" b="0" dirty="0">
                <a:solidFill>
                  <a:srgbClr val="1A1A1A"/>
                </a:solidFill>
                <a:latin typeface="Calibri"/>
              </a:rPr>
              <a:t>-</a:t>
            </a:r>
            <a:r>
              <a:rPr sz="1500" b="0" dirty="0">
                <a:solidFill>
                  <a:srgbClr val="1A1A1A"/>
                </a:solidFill>
                <a:latin typeface="Calibri"/>
              </a:rPr>
              <a:t> the same pattern reused for every add/edit/confirm flow in the app.</a:t>
            </a:r>
          </a:p>
        </p:txBody>
      </p:sp>
      <p:sp>
        <p:nvSpPr>
          <p:cNvPr id="8" name="TextBox 7"/>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System UI Flow</a:t>
            </a:r>
          </a:p>
        </p:txBody>
      </p:sp>
      <p:sp>
        <p:nvSpPr>
          <p:cNvPr id="9" name="TextBox 8"/>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10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229600" cy="457200"/>
          </a:xfrm>
          <a:prstGeom prst="rect">
            <a:avLst/>
          </a:prstGeom>
          <a:noFill/>
        </p:spPr>
        <p:txBody>
          <a:bodyPr wrap="square" anchor="t">
            <a:spAutoFit/>
          </a:bodyPr>
          <a:lstStyle/>
          <a:p>
            <a:pPr algn="l">
              <a:lnSpc>
                <a:spcPct val="100000"/>
              </a:lnSpc>
            </a:pPr>
            <a:r>
              <a:rPr sz="2600" b="1" i="0">
                <a:solidFill>
                  <a:srgbClr val="FFFFFF"/>
                </a:solidFill>
                <a:latin typeface="Calibri"/>
              </a:rPr>
              <a:t>Purchases</a:t>
            </a:r>
          </a:p>
        </p:txBody>
      </p:sp>
      <p:sp>
        <p:nvSpPr>
          <p:cNvPr id="4" name="TextBox 3"/>
          <p:cNvSpPr txBox="1"/>
          <p:nvPr/>
        </p:nvSpPr>
        <p:spPr>
          <a:xfrm>
            <a:off x="457200" y="566928"/>
            <a:ext cx="8229600" cy="320040"/>
          </a:xfrm>
          <a:prstGeom prst="rect">
            <a:avLst/>
          </a:prstGeom>
          <a:noFill/>
        </p:spPr>
        <p:txBody>
          <a:bodyPr wrap="square" anchor="t">
            <a:spAutoFit/>
          </a:bodyPr>
          <a:lstStyle/>
          <a:p>
            <a:pPr algn="l">
              <a:lnSpc>
                <a:spcPct val="100000"/>
              </a:lnSpc>
            </a:pPr>
            <a:r>
              <a:rPr sz="1300" b="0" i="0">
                <a:solidFill>
                  <a:srgbClr val="5FB48C"/>
                </a:solidFill>
                <a:latin typeface="Calibri"/>
              </a:rPr>
              <a:t>Stock replenishment orders</a:t>
            </a:r>
          </a:p>
        </p:txBody>
      </p:sp>
      <p:pic>
        <p:nvPicPr>
          <p:cNvPr id="5" name="Picture 4" descr="08_purchases.jpg"/>
          <p:cNvPicPr>
            <a:picLocks noChangeAspect="1"/>
          </p:cNvPicPr>
          <p:nvPr/>
        </p:nvPicPr>
        <p:blipFill>
          <a:blip r:embed="rId2"/>
          <a:stretch>
            <a:fillRect/>
          </a:stretch>
        </p:blipFill>
        <p:spPr>
          <a:xfrm>
            <a:off x="457200" y="2276926"/>
            <a:ext cx="5943600" cy="3145536"/>
          </a:xfrm>
          <a:prstGeom prst="rect">
            <a:avLst/>
          </a:prstGeom>
          <a:ln>
            <a:solidFill>
              <a:schemeClr val="tx1"/>
            </a:solidFill>
          </a:ln>
        </p:spPr>
      </p:pic>
      <p:sp>
        <p:nvSpPr>
          <p:cNvPr id="6" name="Rectangle 5"/>
          <p:cNvSpPr/>
          <p:nvPr/>
        </p:nvSpPr>
        <p:spPr>
          <a:xfrm>
            <a:off x="457200" y="2286070"/>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0" y="2572421"/>
            <a:ext cx="5029200" cy="2554545"/>
          </a:xfrm>
          <a:prstGeom prst="rect">
            <a:avLst/>
          </a:prstGeom>
          <a:noFill/>
        </p:spPr>
        <p:txBody>
          <a:bodyPr wrap="square">
            <a:spAutoFit/>
          </a:bodyPr>
          <a:lstStyle/>
          <a:p>
            <a:pPr>
              <a:spcAft>
                <a:spcPts val="1000"/>
              </a:spcAft>
            </a:pPr>
            <a:r>
              <a:rPr sz="1500" b="1" dirty="0">
                <a:solidFill>
                  <a:srgbClr val="1B5E3F"/>
                </a:solidFill>
                <a:latin typeface="Calibri"/>
              </a:rPr>
              <a:t>▸  What it is:  </a:t>
            </a:r>
            <a:r>
              <a:rPr sz="1500" b="0" dirty="0">
                <a:solidFill>
                  <a:srgbClr val="1A1A1A"/>
                </a:solidFill>
                <a:latin typeface="Calibri"/>
              </a:rPr>
              <a:t>The purchasing ledger </a:t>
            </a:r>
            <a:r>
              <a:rPr lang="en-PH" sz="1500" b="0" dirty="0">
                <a:solidFill>
                  <a:srgbClr val="1A1A1A"/>
                </a:solidFill>
                <a:latin typeface="Calibri"/>
              </a:rPr>
              <a:t>-</a:t>
            </a:r>
            <a:r>
              <a:rPr sz="1500" b="0" dirty="0">
                <a:solidFill>
                  <a:srgbClr val="1A1A1A"/>
                </a:solidFill>
                <a:latin typeface="Calibri"/>
              </a:rPr>
              <a:t> stock bought in from suppliers.</a:t>
            </a:r>
          </a:p>
          <a:p>
            <a:pPr>
              <a:spcAft>
                <a:spcPts val="1000"/>
              </a:spcAft>
            </a:pPr>
            <a:r>
              <a:rPr sz="1500" b="1" dirty="0">
                <a:solidFill>
                  <a:srgbClr val="1B5E3F"/>
                </a:solidFill>
                <a:latin typeface="Calibri"/>
              </a:rPr>
              <a:t>▸  Purpose:  </a:t>
            </a:r>
            <a:r>
              <a:rPr sz="1500" b="0" dirty="0">
                <a:solidFill>
                  <a:srgbClr val="1A1A1A"/>
                </a:solidFill>
                <a:latin typeface="Calibri"/>
              </a:rPr>
              <a:t>Record what was restocked, at what cost, so inventory and cost trends stay current.</a:t>
            </a:r>
          </a:p>
          <a:p>
            <a:pPr>
              <a:spcAft>
                <a:spcPts val="1000"/>
              </a:spcAft>
            </a:pPr>
            <a:r>
              <a:rPr sz="1500" b="1" dirty="0">
                <a:solidFill>
                  <a:srgbClr val="1B5E3F"/>
                </a:solidFill>
                <a:latin typeface="Calibri"/>
              </a:rPr>
              <a:t>▸  User can:  </a:t>
            </a:r>
            <a:r>
              <a:rPr sz="1500" b="0" dirty="0">
                <a:solidFill>
                  <a:srgbClr val="1A1A1A"/>
                </a:solidFill>
                <a:latin typeface="Calibri"/>
              </a:rPr>
              <a:t>Review month-to-date spend, pending orders, and add a new purchase.</a:t>
            </a:r>
          </a:p>
          <a:p>
            <a:pPr>
              <a:spcAft>
                <a:spcPts val="1000"/>
              </a:spcAft>
            </a:pPr>
            <a:r>
              <a:rPr sz="1500" b="1" dirty="0">
                <a:solidFill>
                  <a:srgbClr val="1B5E3F"/>
                </a:solidFill>
                <a:latin typeface="Calibri"/>
              </a:rPr>
              <a:t>▸  Notable feature:  </a:t>
            </a:r>
            <a:r>
              <a:rPr sz="1500" b="0" dirty="0">
                <a:solidFill>
                  <a:srgbClr val="1A1A1A"/>
                </a:solidFill>
                <a:latin typeface="Calibri"/>
              </a:rPr>
              <a:t>Monthly purchasing-spend chart feeds directly into the Purchasing Cost Forecast on the Forecast page.</a:t>
            </a:r>
          </a:p>
        </p:txBody>
      </p:sp>
      <p:sp>
        <p:nvSpPr>
          <p:cNvPr id="8" name="TextBox 7"/>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System UI Flow</a:t>
            </a:r>
          </a:p>
        </p:txBody>
      </p:sp>
      <p:sp>
        <p:nvSpPr>
          <p:cNvPr id="9" name="TextBox 8"/>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11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229600" cy="457200"/>
          </a:xfrm>
          <a:prstGeom prst="rect">
            <a:avLst/>
          </a:prstGeom>
          <a:noFill/>
        </p:spPr>
        <p:txBody>
          <a:bodyPr wrap="square" anchor="t">
            <a:spAutoFit/>
          </a:bodyPr>
          <a:lstStyle/>
          <a:p>
            <a:pPr algn="l">
              <a:lnSpc>
                <a:spcPct val="100000"/>
              </a:lnSpc>
            </a:pPr>
            <a:r>
              <a:rPr sz="2600" b="1" i="0">
                <a:solidFill>
                  <a:srgbClr val="FFFFFF"/>
                </a:solidFill>
                <a:latin typeface="Calibri"/>
              </a:rPr>
              <a:t>Suppliers</a:t>
            </a:r>
          </a:p>
        </p:txBody>
      </p:sp>
      <p:sp>
        <p:nvSpPr>
          <p:cNvPr id="4" name="TextBox 3"/>
          <p:cNvSpPr txBox="1"/>
          <p:nvPr/>
        </p:nvSpPr>
        <p:spPr>
          <a:xfrm>
            <a:off x="457200" y="566928"/>
            <a:ext cx="8229600" cy="320040"/>
          </a:xfrm>
          <a:prstGeom prst="rect">
            <a:avLst/>
          </a:prstGeom>
          <a:noFill/>
        </p:spPr>
        <p:txBody>
          <a:bodyPr wrap="square" anchor="t">
            <a:spAutoFit/>
          </a:bodyPr>
          <a:lstStyle/>
          <a:p>
            <a:pPr algn="l">
              <a:lnSpc>
                <a:spcPct val="100000"/>
              </a:lnSpc>
            </a:pPr>
            <a:r>
              <a:rPr sz="1300" b="0" i="0">
                <a:solidFill>
                  <a:srgbClr val="5FB48C"/>
                </a:solidFill>
                <a:latin typeface="Calibri"/>
              </a:rPr>
              <a:t>Supplier &amp; pricing management</a:t>
            </a:r>
          </a:p>
        </p:txBody>
      </p:sp>
      <p:pic>
        <p:nvPicPr>
          <p:cNvPr id="5" name="Picture 4" descr="09_suppliers.jpg"/>
          <p:cNvPicPr>
            <a:picLocks noChangeAspect="1"/>
          </p:cNvPicPr>
          <p:nvPr/>
        </p:nvPicPr>
        <p:blipFill>
          <a:blip r:embed="rId2"/>
          <a:stretch>
            <a:fillRect/>
          </a:stretch>
        </p:blipFill>
        <p:spPr>
          <a:xfrm>
            <a:off x="457200" y="2411183"/>
            <a:ext cx="5943600" cy="3095209"/>
          </a:xfrm>
          <a:prstGeom prst="rect">
            <a:avLst/>
          </a:prstGeom>
          <a:ln>
            <a:solidFill>
              <a:schemeClr val="tx1"/>
            </a:solidFill>
          </a:ln>
        </p:spPr>
      </p:pic>
      <p:sp>
        <p:nvSpPr>
          <p:cNvPr id="6" name="Rectangle 5"/>
          <p:cNvSpPr/>
          <p:nvPr/>
        </p:nvSpPr>
        <p:spPr>
          <a:xfrm>
            <a:off x="457200" y="2411183"/>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0" y="2687837"/>
            <a:ext cx="5029200" cy="2323713"/>
          </a:xfrm>
          <a:prstGeom prst="rect">
            <a:avLst/>
          </a:prstGeom>
          <a:noFill/>
        </p:spPr>
        <p:txBody>
          <a:bodyPr wrap="square">
            <a:spAutoFit/>
          </a:bodyPr>
          <a:lstStyle/>
          <a:p>
            <a:pPr>
              <a:spcAft>
                <a:spcPts val="1000"/>
              </a:spcAft>
            </a:pPr>
            <a:r>
              <a:rPr sz="1500" b="1" dirty="0">
                <a:solidFill>
                  <a:srgbClr val="1B5E3F"/>
                </a:solidFill>
                <a:latin typeface="Calibri"/>
              </a:rPr>
              <a:t>▸  What it is:  </a:t>
            </a:r>
            <a:r>
              <a:rPr sz="1500" b="0" dirty="0">
                <a:solidFill>
                  <a:srgbClr val="1A1A1A"/>
                </a:solidFill>
                <a:latin typeface="Calibri"/>
              </a:rPr>
              <a:t>The list of suppliers the business buys from.</a:t>
            </a:r>
          </a:p>
          <a:p>
            <a:pPr>
              <a:spcAft>
                <a:spcPts val="1000"/>
              </a:spcAft>
            </a:pPr>
            <a:r>
              <a:rPr sz="1500" b="1" dirty="0">
                <a:solidFill>
                  <a:srgbClr val="1B5E3F"/>
                </a:solidFill>
                <a:latin typeface="Calibri"/>
              </a:rPr>
              <a:t>▸  Purpose:  </a:t>
            </a:r>
            <a:r>
              <a:rPr sz="1500" b="0" dirty="0">
                <a:solidFill>
                  <a:srgbClr val="1A1A1A"/>
                </a:solidFill>
                <a:latin typeface="Calibri"/>
              </a:rPr>
              <a:t>Track contact info, products supplied, and how each supplier's pricing is trending.</a:t>
            </a:r>
          </a:p>
          <a:p>
            <a:pPr>
              <a:spcAft>
                <a:spcPts val="1000"/>
              </a:spcAft>
            </a:pPr>
            <a:r>
              <a:rPr sz="1500" b="1" dirty="0">
                <a:solidFill>
                  <a:srgbClr val="1B5E3F"/>
                </a:solidFill>
                <a:latin typeface="Calibri"/>
              </a:rPr>
              <a:t>▸  User can:  </a:t>
            </a:r>
            <a:r>
              <a:rPr sz="1500" b="0" dirty="0">
                <a:solidFill>
                  <a:srgbClr val="1A1A1A"/>
                </a:solidFill>
                <a:latin typeface="Calibri"/>
              </a:rPr>
              <a:t>Search suppliers, and (managers) add or edit supplier records.</a:t>
            </a:r>
          </a:p>
          <a:p>
            <a:pPr>
              <a:spcAft>
                <a:spcPts val="1000"/>
              </a:spcAft>
            </a:pPr>
            <a:r>
              <a:rPr sz="1500" b="1" dirty="0">
                <a:solidFill>
                  <a:srgbClr val="1B5E3F"/>
                </a:solidFill>
                <a:latin typeface="Calibri"/>
              </a:rPr>
              <a:t>▸  Notable feature:  </a:t>
            </a:r>
            <a:r>
              <a:rPr sz="1500" b="0" dirty="0">
                <a:solidFill>
                  <a:srgbClr val="1A1A1A"/>
                </a:solidFill>
                <a:latin typeface="Calibri"/>
              </a:rPr>
              <a:t>“Price review” status flags suppliers whose prices are rising </a:t>
            </a:r>
            <a:r>
              <a:rPr lang="en-PH" sz="1500" b="0" dirty="0">
                <a:solidFill>
                  <a:srgbClr val="1A1A1A"/>
                </a:solidFill>
                <a:latin typeface="Calibri"/>
              </a:rPr>
              <a:t>-</a:t>
            </a:r>
            <a:r>
              <a:rPr sz="1500" b="0" dirty="0">
                <a:solidFill>
                  <a:srgbClr val="1A1A1A"/>
                </a:solidFill>
                <a:latin typeface="Calibri"/>
              </a:rPr>
              <a:t> direct input to the Alerts and Price Forecast features.</a:t>
            </a:r>
          </a:p>
        </p:txBody>
      </p:sp>
      <p:sp>
        <p:nvSpPr>
          <p:cNvPr id="8" name="TextBox 7"/>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System UI Flow</a:t>
            </a:r>
          </a:p>
        </p:txBody>
      </p:sp>
      <p:sp>
        <p:nvSpPr>
          <p:cNvPr id="9" name="TextBox 8"/>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12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229600" cy="457200"/>
          </a:xfrm>
          <a:prstGeom prst="rect">
            <a:avLst/>
          </a:prstGeom>
          <a:noFill/>
        </p:spPr>
        <p:txBody>
          <a:bodyPr wrap="square" anchor="t">
            <a:spAutoFit/>
          </a:bodyPr>
          <a:lstStyle/>
          <a:p>
            <a:pPr algn="l">
              <a:lnSpc>
                <a:spcPct val="100000"/>
              </a:lnSpc>
            </a:pPr>
            <a:r>
              <a:rPr sz="2600" b="1" i="0">
                <a:solidFill>
                  <a:srgbClr val="FFFFFF"/>
                </a:solidFill>
                <a:latin typeface="Calibri"/>
              </a:rPr>
              <a:t>Expenses</a:t>
            </a:r>
          </a:p>
        </p:txBody>
      </p:sp>
      <p:sp>
        <p:nvSpPr>
          <p:cNvPr id="4" name="TextBox 3"/>
          <p:cNvSpPr txBox="1"/>
          <p:nvPr/>
        </p:nvSpPr>
        <p:spPr>
          <a:xfrm>
            <a:off x="457200" y="566928"/>
            <a:ext cx="8229600" cy="320040"/>
          </a:xfrm>
          <a:prstGeom prst="rect">
            <a:avLst/>
          </a:prstGeom>
          <a:noFill/>
        </p:spPr>
        <p:txBody>
          <a:bodyPr wrap="square" anchor="t">
            <a:spAutoFit/>
          </a:bodyPr>
          <a:lstStyle/>
          <a:p>
            <a:pPr algn="l">
              <a:lnSpc>
                <a:spcPct val="100000"/>
              </a:lnSpc>
            </a:pPr>
            <a:r>
              <a:rPr sz="1300" b="0" i="0">
                <a:solidFill>
                  <a:srgbClr val="5FB48C"/>
                </a:solidFill>
                <a:latin typeface="Calibri"/>
              </a:rPr>
              <a:t>Non-stock spending</a:t>
            </a:r>
          </a:p>
        </p:txBody>
      </p:sp>
      <p:pic>
        <p:nvPicPr>
          <p:cNvPr id="5" name="Picture 4" descr="10_expenses.jpg"/>
          <p:cNvPicPr>
            <a:picLocks noChangeAspect="1"/>
          </p:cNvPicPr>
          <p:nvPr/>
        </p:nvPicPr>
        <p:blipFill>
          <a:blip r:embed="rId2"/>
          <a:stretch>
            <a:fillRect/>
          </a:stretch>
        </p:blipFill>
        <p:spPr>
          <a:xfrm>
            <a:off x="457200" y="2281480"/>
            <a:ext cx="5943600" cy="3136427"/>
          </a:xfrm>
          <a:prstGeom prst="rect">
            <a:avLst/>
          </a:prstGeom>
          <a:ln>
            <a:solidFill>
              <a:schemeClr val="tx1"/>
            </a:solidFill>
          </a:ln>
        </p:spPr>
      </p:pic>
      <p:sp>
        <p:nvSpPr>
          <p:cNvPr id="6" name="Rectangle 5"/>
          <p:cNvSpPr/>
          <p:nvPr/>
        </p:nvSpPr>
        <p:spPr>
          <a:xfrm>
            <a:off x="457200" y="2396296"/>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0" y="2687836"/>
            <a:ext cx="5029200" cy="2323713"/>
          </a:xfrm>
          <a:prstGeom prst="rect">
            <a:avLst/>
          </a:prstGeom>
          <a:noFill/>
        </p:spPr>
        <p:txBody>
          <a:bodyPr wrap="square">
            <a:spAutoFit/>
          </a:bodyPr>
          <a:lstStyle/>
          <a:p>
            <a:pPr>
              <a:spcAft>
                <a:spcPts val="1000"/>
              </a:spcAft>
            </a:pPr>
            <a:r>
              <a:rPr sz="1500" b="1" dirty="0">
                <a:solidFill>
                  <a:srgbClr val="1B5E3F"/>
                </a:solidFill>
                <a:latin typeface="Calibri"/>
              </a:rPr>
              <a:t>▸  What it is:  </a:t>
            </a:r>
            <a:r>
              <a:rPr sz="1500" b="0" dirty="0">
                <a:solidFill>
                  <a:srgbClr val="1A1A1A"/>
                </a:solidFill>
                <a:latin typeface="Calibri"/>
              </a:rPr>
              <a:t>A record of business costs outside of inventory </a:t>
            </a:r>
            <a:r>
              <a:rPr lang="en-PH" sz="1500" b="0" dirty="0">
                <a:solidFill>
                  <a:srgbClr val="1A1A1A"/>
                </a:solidFill>
                <a:latin typeface="Calibri"/>
              </a:rPr>
              <a:t>-</a:t>
            </a:r>
            <a:r>
              <a:rPr sz="1500" b="0" dirty="0">
                <a:solidFill>
                  <a:srgbClr val="1A1A1A"/>
                </a:solidFill>
                <a:latin typeface="Calibri"/>
              </a:rPr>
              <a:t> rent, utilities, wages, etc.</a:t>
            </a:r>
          </a:p>
          <a:p>
            <a:pPr>
              <a:spcAft>
                <a:spcPts val="1000"/>
              </a:spcAft>
            </a:pPr>
            <a:r>
              <a:rPr sz="1500" b="1" dirty="0">
                <a:solidFill>
                  <a:srgbClr val="1B5E3F"/>
                </a:solidFill>
                <a:latin typeface="Calibri"/>
              </a:rPr>
              <a:t>▸  Purpose:  </a:t>
            </a:r>
            <a:r>
              <a:rPr sz="1500" b="0" dirty="0">
                <a:solidFill>
                  <a:srgbClr val="1A1A1A"/>
                </a:solidFill>
                <a:latin typeface="Calibri"/>
              </a:rPr>
              <a:t>Give a complete financial picture beyond just stock, for accurate Reports.</a:t>
            </a:r>
          </a:p>
          <a:p>
            <a:pPr>
              <a:spcAft>
                <a:spcPts val="1000"/>
              </a:spcAft>
            </a:pPr>
            <a:r>
              <a:rPr sz="1500" b="1" dirty="0">
                <a:solidFill>
                  <a:srgbClr val="1B5E3F"/>
                </a:solidFill>
                <a:latin typeface="Calibri"/>
              </a:rPr>
              <a:t>▸  User can:  </a:t>
            </a:r>
            <a:r>
              <a:rPr sz="1500" b="0" dirty="0">
                <a:solidFill>
                  <a:srgbClr val="1A1A1A"/>
                </a:solidFill>
                <a:latin typeface="Calibri"/>
              </a:rPr>
              <a:t>View month-to-date totals by category and add a new expense entry.</a:t>
            </a:r>
          </a:p>
          <a:p>
            <a:pPr>
              <a:spcAft>
                <a:spcPts val="1000"/>
              </a:spcAft>
            </a:pPr>
            <a:r>
              <a:rPr sz="1500" b="1" dirty="0">
                <a:solidFill>
                  <a:srgbClr val="1B5E3F"/>
                </a:solidFill>
                <a:latin typeface="Calibri"/>
              </a:rPr>
              <a:t>▸  Notable feature:  </a:t>
            </a:r>
            <a:r>
              <a:rPr sz="1500" b="0" dirty="0">
                <a:solidFill>
                  <a:srgbClr val="1A1A1A"/>
                </a:solidFill>
                <a:latin typeface="Calibri"/>
              </a:rPr>
              <a:t>Category breakdown chart mirrors the same visual language used across Sales, Purchases, and Waste.</a:t>
            </a:r>
          </a:p>
        </p:txBody>
      </p:sp>
      <p:sp>
        <p:nvSpPr>
          <p:cNvPr id="8" name="TextBox 7"/>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System UI Flow</a:t>
            </a:r>
          </a:p>
        </p:txBody>
      </p:sp>
      <p:sp>
        <p:nvSpPr>
          <p:cNvPr id="9" name="TextBox 8"/>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13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229600" cy="457200"/>
          </a:xfrm>
          <a:prstGeom prst="rect">
            <a:avLst/>
          </a:prstGeom>
          <a:noFill/>
        </p:spPr>
        <p:txBody>
          <a:bodyPr wrap="square" anchor="t">
            <a:spAutoFit/>
          </a:bodyPr>
          <a:lstStyle/>
          <a:p>
            <a:pPr algn="l">
              <a:lnSpc>
                <a:spcPct val="100000"/>
              </a:lnSpc>
            </a:pPr>
            <a:r>
              <a:rPr sz="2600" b="1" i="0">
                <a:solidFill>
                  <a:srgbClr val="FFFFFF"/>
                </a:solidFill>
                <a:latin typeface="Calibri"/>
              </a:rPr>
              <a:t>Waste</a:t>
            </a:r>
          </a:p>
        </p:txBody>
      </p:sp>
      <p:sp>
        <p:nvSpPr>
          <p:cNvPr id="4" name="TextBox 3"/>
          <p:cNvSpPr txBox="1"/>
          <p:nvPr/>
        </p:nvSpPr>
        <p:spPr>
          <a:xfrm>
            <a:off x="457200" y="566928"/>
            <a:ext cx="8229600" cy="320040"/>
          </a:xfrm>
          <a:prstGeom prst="rect">
            <a:avLst/>
          </a:prstGeom>
          <a:noFill/>
        </p:spPr>
        <p:txBody>
          <a:bodyPr wrap="square" anchor="t">
            <a:spAutoFit/>
          </a:bodyPr>
          <a:lstStyle/>
          <a:p>
            <a:pPr algn="l">
              <a:lnSpc>
                <a:spcPct val="100000"/>
              </a:lnSpc>
            </a:pPr>
            <a:r>
              <a:rPr sz="1300" b="0" i="0">
                <a:solidFill>
                  <a:srgbClr val="5FB48C"/>
                </a:solidFill>
                <a:latin typeface="Calibri"/>
              </a:rPr>
              <a:t>Stock loss tracking</a:t>
            </a:r>
          </a:p>
        </p:txBody>
      </p:sp>
      <p:pic>
        <p:nvPicPr>
          <p:cNvPr id="5" name="Picture 4" descr="11_waste.jpg"/>
          <p:cNvPicPr>
            <a:picLocks noChangeAspect="1"/>
          </p:cNvPicPr>
          <p:nvPr/>
        </p:nvPicPr>
        <p:blipFill>
          <a:blip r:embed="rId2"/>
          <a:stretch>
            <a:fillRect/>
          </a:stretch>
        </p:blipFill>
        <p:spPr>
          <a:xfrm>
            <a:off x="457200" y="2263210"/>
            <a:ext cx="5943600" cy="3172968"/>
          </a:xfrm>
          <a:prstGeom prst="rect">
            <a:avLst/>
          </a:prstGeom>
        </p:spPr>
      </p:pic>
      <p:sp>
        <p:nvSpPr>
          <p:cNvPr id="6" name="Rectangle 5"/>
          <p:cNvSpPr/>
          <p:nvPr/>
        </p:nvSpPr>
        <p:spPr>
          <a:xfrm>
            <a:off x="457200" y="2372833"/>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0" y="2418553"/>
            <a:ext cx="5029200" cy="4937760"/>
          </a:xfrm>
          <a:prstGeom prst="rect">
            <a:avLst/>
          </a:prstGeom>
          <a:noFill/>
        </p:spPr>
        <p:txBody>
          <a:bodyPr wrap="square">
            <a:spAutoFit/>
          </a:bodyPr>
          <a:lstStyle/>
          <a:p>
            <a:pPr>
              <a:spcAft>
                <a:spcPts val="1000"/>
              </a:spcAft>
            </a:pPr>
            <a:r>
              <a:rPr sz="1500" b="1" dirty="0">
                <a:solidFill>
                  <a:srgbClr val="1B5E3F"/>
                </a:solidFill>
                <a:latin typeface="Calibri"/>
              </a:rPr>
              <a:t>▸  What it is:  </a:t>
            </a:r>
            <a:r>
              <a:rPr sz="1500" b="0" dirty="0">
                <a:solidFill>
                  <a:srgbClr val="1A1A1A"/>
                </a:solidFill>
                <a:latin typeface="Calibri"/>
              </a:rPr>
              <a:t>A log of stock lost to spoilage, damage, or expiry.</a:t>
            </a:r>
          </a:p>
          <a:p>
            <a:pPr>
              <a:spcAft>
                <a:spcPts val="1000"/>
              </a:spcAft>
            </a:pPr>
            <a:r>
              <a:rPr sz="1500" b="1" dirty="0">
                <a:solidFill>
                  <a:srgbClr val="1B5E3F"/>
                </a:solidFill>
                <a:latin typeface="Calibri"/>
              </a:rPr>
              <a:t>▸  Purpose:  </a:t>
            </a:r>
            <a:r>
              <a:rPr sz="1500" b="0" dirty="0">
                <a:solidFill>
                  <a:srgbClr val="1A1A1A"/>
                </a:solidFill>
                <a:latin typeface="Calibri"/>
              </a:rPr>
              <a:t>Quantify shrinkage cost and its causes, feeding the “high waste” recommendation rule.</a:t>
            </a:r>
          </a:p>
          <a:p>
            <a:pPr>
              <a:spcAft>
                <a:spcPts val="1000"/>
              </a:spcAft>
            </a:pPr>
            <a:r>
              <a:rPr sz="1500" b="1" dirty="0">
                <a:solidFill>
                  <a:srgbClr val="1B5E3F"/>
                </a:solidFill>
                <a:latin typeface="Calibri"/>
              </a:rPr>
              <a:t>▸  User can:  </a:t>
            </a:r>
            <a:r>
              <a:rPr sz="1500" b="0" dirty="0">
                <a:solidFill>
                  <a:srgbClr val="1A1A1A"/>
                </a:solidFill>
                <a:latin typeface="Calibri"/>
              </a:rPr>
              <a:t>View waste rate and breakdown by reason, and log a new waste record (which decreases stock).</a:t>
            </a:r>
          </a:p>
          <a:p>
            <a:pPr>
              <a:spcAft>
                <a:spcPts val="1000"/>
              </a:spcAft>
            </a:pPr>
            <a:r>
              <a:rPr sz="1500" b="1" dirty="0">
                <a:solidFill>
                  <a:srgbClr val="1B5E3F"/>
                </a:solidFill>
                <a:latin typeface="Calibri"/>
              </a:rPr>
              <a:t>▸  Notable feature:  </a:t>
            </a:r>
            <a:r>
              <a:rPr sz="1500" b="0" dirty="0">
                <a:solidFill>
                  <a:srgbClr val="1A1A1A"/>
                </a:solidFill>
                <a:latin typeface="Calibri"/>
              </a:rPr>
              <a:t>Waste-by-reason breakdown is one of the three inputs (with stock and pricing) behind the app's rule-based recommendations.</a:t>
            </a:r>
          </a:p>
        </p:txBody>
      </p:sp>
      <p:sp>
        <p:nvSpPr>
          <p:cNvPr id="8" name="TextBox 7"/>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System UI Flow</a:t>
            </a:r>
          </a:p>
        </p:txBody>
      </p:sp>
      <p:sp>
        <p:nvSpPr>
          <p:cNvPr id="9" name="TextBox 8"/>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14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229600" cy="457200"/>
          </a:xfrm>
          <a:prstGeom prst="rect">
            <a:avLst/>
          </a:prstGeom>
          <a:noFill/>
        </p:spPr>
        <p:txBody>
          <a:bodyPr wrap="square" anchor="t">
            <a:spAutoFit/>
          </a:bodyPr>
          <a:lstStyle/>
          <a:p>
            <a:pPr algn="l">
              <a:lnSpc>
                <a:spcPct val="100000"/>
              </a:lnSpc>
            </a:pPr>
            <a:r>
              <a:rPr sz="2600" b="1" i="0">
                <a:solidFill>
                  <a:srgbClr val="FFFFFF"/>
                </a:solidFill>
                <a:latin typeface="Calibri"/>
              </a:rPr>
              <a:t>Forecast</a:t>
            </a:r>
          </a:p>
        </p:txBody>
      </p:sp>
      <p:sp>
        <p:nvSpPr>
          <p:cNvPr id="4" name="TextBox 3"/>
          <p:cNvSpPr txBox="1"/>
          <p:nvPr/>
        </p:nvSpPr>
        <p:spPr>
          <a:xfrm>
            <a:off x="457200" y="566928"/>
            <a:ext cx="8229600" cy="320040"/>
          </a:xfrm>
          <a:prstGeom prst="rect">
            <a:avLst/>
          </a:prstGeom>
          <a:noFill/>
        </p:spPr>
        <p:txBody>
          <a:bodyPr wrap="square" anchor="t">
            <a:spAutoFit/>
          </a:bodyPr>
          <a:lstStyle/>
          <a:p>
            <a:pPr algn="l">
              <a:lnSpc>
                <a:spcPct val="100000"/>
              </a:lnSpc>
            </a:pPr>
            <a:r>
              <a:rPr sz="1300" b="0" i="0">
                <a:solidFill>
                  <a:srgbClr val="5FB48C"/>
                </a:solidFill>
                <a:latin typeface="Calibri"/>
              </a:rPr>
              <a:t>AI forecasting hub</a:t>
            </a:r>
          </a:p>
        </p:txBody>
      </p:sp>
      <p:pic>
        <p:nvPicPr>
          <p:cNvPr id="5" name="Picture 4" descr="12_forecast.jpg"/>
          <p:cNvPicPr>
            <a:picLocks noChangeAspect="1"/>
          </p:cNvPicPr>
          <p:nvPr/>
        </p:nvPicPr>
        <p:blipFill>
          <a:blip r:embed="rId2"/>
          <a:stretch>
            <a:fillRect/>
          </a:stretch>
        </p:blipFill>
        <p:spPr>
          <a:xfrm>
            <a:off x="457200" y="2212918"/>
            <a:ext cx="5943600" cy="3273552"/>
          </a:xfrm>
          <a:prstGeom prst="rect">
            <a:avLst/>
          </a:prstGeom>
        </p:spPr>
      </p:pic>
      <p:sp>
        <p:nvSpPr>
          <p:cNvPr id="6" name="Rectangle 5"/>
          <p:cNvSpPr/>
          <p:nvPr/>
        </p:nvSpPr>
        <p:spPr>
          <a:xfrm>
            <a:off x="457200" y="2295144"/>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0" y="2232942"/>
            <a:ext cx="5029200" cy="2785378"/>
          </a:xfrm>
          <a:prstGeom prst="rect">
            <a:avLst/>
          </a:prstGeom>
          <a:noFill/>
        </p:spPr>
        <p:txBody>
          <a:bodyPr wrap="square">
            <a:spAutoFit/>
          </a:bodyPr>
          <a:lstStyle/>
          <a:p>
            <a:pPr>
              <a:spcAft>
                <a:spcPts val="1000"/>
              </a:spcAft>
            </a:pPr>
            <a:r>
              <a:rPr sz="1500" b="1" dirty="0">
                <a:solidFill>
                  <a:srgbClr val="1B5E3F"/>
                </a:solidFill>
                <a:latin typeface="Calibri"/>
              </a:rPr>
              <a:t>▸  What it is:  </a:t>
            </a:r>
            <a:r>
              <a:rPr sz="1500" b="0" dirty="0">
                <a:solidFill>
                  <a:srgbClr val="1A1A1A"/>
                </a:solidFill>
                <a:latin typeface="Calibri"/>
              </a:rPr>
              <a:t>A consolidated view of demand, supplier-price, and purchasing-cost forecasts across all products.</a:t>
            </a:r>
          </a:p>
          <a:p>
            <a:pPr>
              <a:spcAft>
                <a:spcPts val="1000"/>
              </a:spcAft>
            </a:pPr>
            <a:r>
              <a:rPr sz="1500" b="1" dirty="0">
                <a:solidFill>
                  <a:srgbClr val="1B5E3F"/>
                </a:solidFill>
                <a:latin typeface="Calibri"/>
              </a:rPr>
              <a:t>▸  Purpose:  </a:t>
            </a:r>
            <a:r>
              <a:rPr sz="1500" b="0" dirty="0">
                <a:solidFill>
                  <a:srgbClr val="1A1A1A"/>
                </a:solidFill>
                <a:latin typeface="Calibri"/>
              </a:rPr>
              <a:t>Help the owner anticipate what to reorder and what it will cost, before it becomes urgent.</a:t>
            </a:r>
          </a:p>
          <a:p>
            <a:pPr>
              <a:spcAft>
                <a:spcPts val="1000"/>
              </a:spcAft>
            </a:pPr>
            <a:r>
              <a:rPr sz="1500" b="1" dirty="0">
                <a:solidFill>
                  <a:srgbClr val="1B5E3F"/>
                </a:solidFill>
                <a:latin typeface="Calibri"/>
              </a:rPr>
              <a:t>▸  User can:  </a:t>
            </a:r>
            <a:r>
              <a:rPr sz="1500" b="0" dirty="0">
                <a:solidFill>
                  <a:srgbClr val="1A1A1A"/>
                </a:solidFill>
                <a:latin typeface="Calibri"/>
              </a:rPr>
              <a:t>Switch between Next 7/14/30-day windows and drill into per-product forecasts.</a:t>
            </a:r>
          </a:p>
          <a:p>
            <a:pPr>
              <a:spcAft>
                <a:spcPts val="1000"/>
              </a:spcAft>
            </a:pPr>
            <a:r>
              <a:rPr sz="1500" b="1" dirty="0">
                <a:solidFill>
                  <a:srgbClr val="1B5E3F"/>
                </a:solidFill>
                <a:latin typeface="Calibri"/>
              </a:rPr>
              <a:t>▸  Notable feature:  </a:t>
            </a:r>
            <a:r>
              <a:rPr sz="1500" b="0" dirty="0">
                <a:solidFill>
                  <a:srgbClr val="1A1A1A"/>
                </a:solidFill>
                <a:latin typeface="Calibri"/>
              </a:rPr>
              <a:t>Shown here with no forecasts yet </a:t>
            </a:r>
            <a:r>
              <a:rPr lang="en-PH" sz="1500" b="0" dirty="0">
                <a:solidFill>
                  <a:srgbClr val="1A1A1A"/>
                </a:solidFill>
                <a:latin typeface="Calibri"/>
              </a:rPr>
              <a:t>-</a:t>
            </a:r>
            <a:r>
              <a:rPr sz="1500" b="0" dirty="0">
                <a:solidFill>
                  <a:srgbClr val="1A1A1A"/>
                </a:solidFill>
                <a:latin typeface="Calibri"/>
              </a:rPr>
              <a:t> this business is brand-new, so there isn't enough sales history for a projection (see AI Integration section for how this is actually computed).</a:t>
            </a:r>
          </a:p>
        </p:txBody>
      </p:sp>
      <p:sp>
        <p:nvSpPr>
          <p:cNvPr id="8" name="TextBox 7"/>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System UI Flow</a:t>
            </a:r>
          </a:p>
        </p:txBody>
      </p:sp>
      <p:sp>
        <p:nvSpPr>
          <p:cNvPr id="9" name="TextBox 8"/>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15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229600" cy="457200"/>
          </a:xfrm>
          <a:prstGeom prst="rect">
            <a:avLst/>
          </a:prstGeom>
          <a:noFill/>
        </p:spPr>
        <p:txBody>
          <a:bodyPr wrap="square" anchor="t">
            <a:spAutoFit/>
          </a:bodyPr>
          <a:lstStyle/>
          <a:p>
            <a:pPr algn="l">
              <a:lnSpc>
                <a:spcPct val="100000"/>
              </a:lnSpc>
            </a:pPr>
            <a:r>
              <a:rPr sz="2600" b="1" i="0">
                <a:solidFill>
                  <a:srgbClr val="FFFFFF"/>
                </a:solidFill>
                <a:latin typeface="Calibri"/>
              </a:rPr>
              <a:t>AI Insights</a:t>
            </a:r>
          </a:p>
        </p:txBody>
      </p:sp>
      <p:sp>
        <p:nvSpPr>
          <p:cNvPr id="4" name="TextBox 3"/>
          <p:cNvSpPr txBox="1"/>
          <p:nvPr/>
        </p:nvSpPr>
        <p:spPr>
          <a:xfrm>
            <a:off x="457200" y="566928"/>
            <a:ext cx="8229600" cy="320040"/>
          </a:xfrm>
          <a:prstGeom prst="rect">
            <a:avLst/>
          </a:prstGeom>
          <a:noFill/>
        </p:spPr>
        <p:txBody>
          <a:bodyPr wrap="square" anchor="t">
            <a:spAutoFit/>
          </a:bodyPr>
          <a:lstStyle/>
          <a:p>
            <a:pPr algn="l">
              <a:lnSpc>
                <a:spcPct val="100000"/>
              </a:lnSpc>
            </a:pPr>
            <a:r>
              <a:rPr sz="1300" b="0" i="0">
                <a:solidFill>
                  <a:srgbClr val="5FB48C"/>
                </a:solidFill>
                <a:latin typeface="Calibri"/>
              </a:rPr>
              <a:t>Pattern-based recommendations</a:t>
            </a:r>
          </a:p>
        </p:txBody>
      </p:sp>
      <p:pic>
        <p:nvPicPr>
          <p:cNvPr id="5" name="Picture 4" descr="13_ai_insights.jpg"/>
          <p:cNvPicPr>
            <a:picLocks noChangeAspect="1"/>
          </p:cNvPicPr>
          <p:nvPr/>
        </p:nvPicPr>
        <p:blipFill>
          <a:blip r:embed="rId2"/>
          <a:stretch>
            <a:fillRect/>
          </a:stretch>
        </p:blipFill>
        <p:spPr>
          <a:xfrm>
            <a:off x="457200" y="2322628"/>
            <a:ext cx="5943600" cy="3054131"/>
          </a:xfrm>
          <a:prstGeom prst="rect">
            <a:avLst/>
          </a:prstGeom>
        </p:spPr>
      </p:pic>
      <p:sp>
        <p:nvSpPr>
          <p:cNvPr id="6" name="Rectangle 5"/>
          <p:cNvSpPr/>
          <p:nvPr/>
        </p:nvSpPr>
        <p:spPr>
          <a:xfrm>
            <a:off x="457200" y="2249476"/>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0" y="2302690"/>
            <a:ext cx="5029200" cy="2554545"/>
          </a:xfrm>
          <a:prstGeom prst="rect">
            <a:avLst/>
          </a:prstGeom>
          <a:noFill/>
        </p:spPr>
        <p:txBody>
          <a:bodyPr wrap="square">
            <a:spAutoFit/>
          </a:bodyPr>
          <a:lstStyle/>
          <a:p>
            <a:pPr>
              <a:spcAft>
                <a:spcPts val="1000"/>
              </a:spcAft>
            </a:pPr>
            <a:r>
              <a:rPr sz="1500" b="1" dirty="0">
                <a:solidFill>
                  <a:srgbClr val="1B5E3F"/>
                </a:solidFill>
                <a:latin typeface="Calibri"/>
              </a:rPr>
              <a:t>▸  What it is:  </a:t>
            </a:r>
            <a:r>
              <a:rPr sz="1500" b="0" dirty="0">
                <a:solidFill>
                  <a:srgbClr val="1A1A1A"/>
                </a:solidFill>
                <a:latin typeface="Calibri"/>
              </a:rPr>
              <a:t>A feed of suggested next steps drawn from the business's own records.</a:t>
            </a:r>
          </a:p>
          <a:p>
            <a:pPr>
              <a:spcAft>
                <a:spcPts val="1000"/>
              </a:spcAft>
            </a:pPr>
            <a:r>
              <a:rPr sz="1500" b="1" dirty="0">
                <a:solidFill>
                  <a:srgbClr val="1B5E3F"/>
                </a:solidFill>
                <a:latin typeface="Calibri"/>
              </a:rPr>
              <a:t>▸  Purpose:  </a:t>
            </a:r>
            <a:r>
              <a:rPr sz="1500" b="0" dirty="0">
                <a:solidFill>
                  <a:srgbClr val="1A1A1A"/>
                </a:solidFill>
                <a:latin typeface="Calibri"/>
              </a:rPr>
              <a:t>Turn raw sales/stock/purchase/waste data into plain-language, actionable suggestions.</a:t>
            </a:r>
          </a:p>
          <a:p>
            <a:pPr>
              <a:spcAft>
                <a:spcPts val="1000"/>
              </a:spcAft>
            </a:pPr>
            <a:r>
              <a:rPr sz="1500" b="1" dirty="0">
                <a:solidFill>
                  <a:srgbClr val="1B5E3F"/>
                </a:solidFill>
                <a:latin typeface="Calibri"/>
              </a:rPr>
              <a:t>▸  User can:  </a:t>
            </a:r>
            <a:r>
              <a:rPr sz="1500" b="0" dirty="0">
                <a:solidFill>
                  <a:srgbClr val="1A1A1A"/>
                </a:solidFill>
                <a:latin typeface="Calibri"/>
              </a:rPr>
              <a:t>Filter by category (Inventory, Pricing, Purchasing, Waste) and read the reasoning behind each insight.</a:t>
            </a:r>
          </a:p>
          <a:p>
            <a:pPr>
              <a:spcAft>
                <a:spcPts val="1000"/>
              </a:spcAft>
            </a:pPr>
            <a:r>
              <a:rPr sz="1500" b="1" dirty="0">
                <a:solidFill>
                  <a:srgbClr val="1B5E3F"/>
                </a:solidFill>
                <a:latin typeface="Calibri"/>
              </a:rPr>
              <a:t>▸  Notable feature:  </a:t>
            </a:r>
            <a:r>
              <a:rPr sz="1500" b="0" dirty="0">
                <a:solidFill>
                  <a:srgbClr val="1A1A1A"/>
                </a:solidFill>
                <a:latin typeface="Calibri"/>
              </a:rPr>
              <a:t>The page is explicit in-app that insights are calculated from the user's own records, not an external AI </a:t>
            </a:r>
            <a:r>
              <a:rPr lang="en-PH" sz="1500" b="0" dirty="0">
                <a:solidFill>
                  <a:srgbClr val="1A1A1A"/>
                </a:solidFill>
                <a:latin typeface="Calibri"/>
              </a:rPr>
              <a:t>-</a:t>
            </a:r>
            <a:r>
              <a:rPr sz="1500" b="0" dirty="0">
                <a:solidFill>
                  <a:srgbClr val="1A1A1A"/>
                </a:solidFill>
                <a:latin typeface="Calibri"/>
              </a:rPr>
              <a:t> covered in depth in the next section.</a:t>
            </a:r>
          </a:p>
        </p:txBody>
      </p:sp>
      <p:sp>
        <p:nvSpPr>
          <p:cNvPr id="8" name="TextBox 7"/>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System UI Flow</a:t>
            </a:r>
          </a:p>
        </p:txBody>
      </p:sp>
      <p:sp>
        <p:nvSpPr>
          <p:cNvPr id="9" name="TextBox 8"/>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16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229600" cy="457200"/>
          </a:xfrm>
          <a:prstGeom prst="rect">
            <a:avLst/>
          </a:prstGeom>
          <a:noFill/>
        </p:spPr>
        <p:txBody>
          <a:bodyPr wrap="square" anchor="t">
            <a:spAutoFit/>
          </a:bodyPr>
          <a:lstStyle/>
          <a:p>
            <a:pPr algn="l">
              <a:lnSpc>
                <a:spcPct val="100000"/>
              </a:lnSpc>
            </a:pPr>
            <a:r>
              <a:rPr sz="2600" b="1" i="0">
                <a:solidFill>
                  <a:srgbClr val="FFFFFF"/>
                </a:solidFill>
                <a:latin typeface="Calibri"/>
              </a:rPr>
              <a:t>Alerts</a:t>
            </a:r>
          </a:p>
        </p:txBody>
      </p:sp>
      <p:sp>
        <p:nvSpPr>
          <p:cNvPr id="4" name="TextBox 3"/>
          <p:cNvSpPr txBox="1"/>
          <p:nvPr/>
        </p:nvSpPr>
        <p:spPr>
          <a:xfrm>
            <a:off x="457200" y="566928"/>
            <a:ext cx="8229600" cy="320040"/>
          </a:xfrm>
          <a:prstGeom prst="rect">
            <a:avLst/>
          </a:prstGeom>
          <a:noFill/>
        </p:spPr>
        <p:txBody>
          <a:bodyPr wrap="square" anchor="t">
            <a:spAutoFit/>
          </a:bodyPr>
          <a:lstStyle/>
          <a:p>
            <a:pPr algn="l">
              <a:lnSpc>
                <a:spcPct val="100000"/>
              </a:lnSpc>
            </a:pPr>
            <a:r>
              <a:rPr sz="1300" b="0" i="0">
                <a:solidFill>
                  <a:srgbClr val="5FB48C"/>
                </a:solidFill>
                <a:latin typeface="Calibri"/>
              </a:rPr>
              <a:t>Signals needing a decision</a:t>
            </a:r>
          </a:p>
        </p:txBody>
      </p:sp>
      <p:pic>
        <p:nvPicPr>
          <p:cNvPr id="5" name="Picture 4" descr="14_alerts.jpg"/>
          <p:cNvPicPr>
            <a:picLocks noChangeAspect="1"/>
          </p:cNvPicPr>
          <p:nvPr/>
        </p:nvPicPr>
        <p:blipFill>
          <a:blip r:embed="rId2"/>
          <a:stretch>
            <a:fillRect/>
          </a:stretch>
        </p:blipFill>
        <p:spPr>
          <a:xfrm>
            <a:off x="457200" y="2281480"/>
            <a:ext cx="5943600" cy="3136427"/>
          </a:xfrm>
          <a:prstGeom prst="rect">
            <a:avLst/>
          </a:prstGeom>
        </p:spPr>
      </p:pic>
      <p:sp>
        <p:nvSpPr>
          <p:cNvPr id="6" name="Rectangle 5"/>
          <p:cNvSpPr/>
          <p:nvPr/>
        </p:nvSpPr>
        <p:spPr>
          <a:xfrm>
            <a:off x="457200" y="2281480"/>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0" y="2151727"/>
            <a:ext cx="5029200" cy="2554545"/>
          </a:xfrm>
          <a:prstGeom prst="rect">
            <a:avLst/>
          </a:prstGeom>
          <a:noFill/>
        </p:spPr>
        <p:txBody>
          <a:bodyPr wrap="square">
            <a:spAutoFit/>
          </a:bodyPr>
          <a:lstStyle/>
          <a:p>
            <a:pPr>
              <a:spcAft>
                <a:spcPts val="1000"/>
              </a:spcAft>
            </a:pPr>
            <a:r>
              <a:rPr sz="1500" b="1" dirty="0">
                <a:solidFill>
                  <a:srgbClr val="1B5E3F"/>
                </a:solidFill>
                <a:latin typeface="Calibri"/>
              </a:rPr>
              <a:t>▸  What it is:  </a:t>
            </a:r>
            <a:r>
              <a:rPr sz="1500" b="0" dirty="0">
                <a:solidFill>
                  <a:srgbClr val="1A1A1A"/>
                </a:solidFill>
                <a:latin typeface="Calibri"/>
              </a:rPr>
              <a:t>A prioritized list of stock, pricing, and expense signals.</a:t>
            </a:r>
          </a:p>
          <a:p>
            <a:pPr>
              <a:spcAft>
                <a:spcPts val="1000"/>
              </a:spcAft>
            </a:pPr>
            <a:r>
              <a:rPr sz="1500" b="1" dirty="0">
                <a:solidFill>
                  <a:srgbClr val="1B5E3F"/>
                </a:solidFill>
                <a:latin typeface="Calibri"/>
              </a:rPr>
              <a:t>▸  Purpose:  </a:t>
            </a:r>
            <a:r>
              <a:rPr sz="1500" b="0" dirty="0">
                <a:solidFill>
                  <a:srgbClr val="1A1A1A"/>
                </a:solidFill>
                <a:latin typeface="Calibri"/>
              </a:rPr>
              <a:t>Make sure nothing urgent (like a stockout) gets missed.</a:t>
            </a:r>
          </a:p>
          <a:p>
            <a:pPr>
              <a:spcAft>
                <a:spcPts val="1000"/>
              </a:spcAft>
            </a:pPr>
            <a:r>
              <a:rPr sz="1500" b="1" dirty="0">
                <a:solidFill>
                  <a:srgbClr val="1B5E3F"/>
                </a:solidFill>
                <a:latin typeface="Calibri"/>
              </a:rPr>
              <a:t>▸  User can:  </a:t>
            </a:r>
            <a:r>
              <a:rPr sz="1500" b="0" dirty="0">
                <a:solidFill>
                  <a:srgbClr val="1A1A1A"/>
                </a:solidFill>
                <a:latin typeface="Calibri"/>
              </a:rPr>
              <a:t>Filter by priority (Critical/Warning/Information), jump to the affected product, or dismiss an alert.</a:t>
            </a:r>
          </a:p>
          <a:p>
            <a:pPr>
              <a:spcAft>
                <a:spcPts val="1000"/>
              </a:spcAft>
            </a:pPr>
            <a:r>
              <a:rPr sz="1500" b="1" dirty="0">
                <a:solidFill>
                  <a:srgbClr val="1B5E3F"/>
                </a:solidFill>
                <a:latin typeface="Calibri"/>
              </a:rPr>
              <a:t>▸  Notable feature:  </a:t>
            </a:r>
            <a:r>
              <a:rPr sz="1500" b="0" dirty="0">
                <a:solidFill>
                  <a:srgbClr val="1A1A1A"/>
                </a:solidFill>
                <a:latin typeface="Calibri"/>
              </a:rPr>
              <a:t>This is the app's working, rule-based decision-support engine in action </a:t>
            </a:r>
            <a:r>
              <a:rPr lang="en-PH" sz="1500" b="0" dirty="0">
                <a:solidFill>
                  <a:srgbClr val="1A1A1A"/>
                </a:solidFill>
                <a:latin typeface="Calibri"/>
              </a:rPr>
              <a:t>-</a:t>
            </a:r>
            <a:r>
              <a:rPr sz="1500" b="0" dirty="0">
                <a:solidFill>
                  <a:srgbClr val="1A1A1A"/>
                </a:solidFill>
                <a:latin typeface="Calibri"/>
              </a:rPr>
              <a:t> e.g. “Cooking Oil is running low”, generated live from real stock and pricing data.</a:t>
            </a:r>
          </a:p>
        </p:txBody>
      </p:sp>
      <p:sp>
        <p:nvSpPr>
          <p:cNvPr id="8" name="TextBox 7"/>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System UI Flow</a:t>
            </a:r>
          </a:p>
        </p:txBody>
      </p:sp>
      <p:sp>
        <p:nvSpPr>
          <p:cNvPr id="9" name="TextBox 8"/>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17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229600" cy="457200"/>
          </a:xfrm>
          <a:prstGeom prst="rect">
            <a:avLst/>
          </a:prstGeom>
          <a:noFill/>
        </p:spPr>
        <p:txBody>
          <a:bodyPr wrap="square" anchor="t">
            <a:spAutoFit/>
          </a:bodyPr>
          <a:lstStyle/>
          <a:p>
            <a:pPr algn="l">
              <a:lnSpc>
                <a:spcPct val="100000"/>
              </a:lnSpc>
            </a:pPr>
            <a:r>
              <a:rPr sz="2600" b="1" i="0">
                <a:solidFill>
                  <a:srgbClr val="FFFFFF"/>
                </a:solidFill>
                <a:latin typeface="Calibri"/>
              </a:rPr>
              <a:t>Reports</a:t>
            </a:r>
          </a:p>
        </p:txBody>
      </p:sp>
      <p:sp>
        <p:nvSpPr>
          <p:cNvPr id="4" name="TextBox 3"/>
          <p:cNvSpPr txBox="1"/>
          <p:nvPr/>
        </p:nvSpPr>
        <p:spPr>
          <a:xfrm>
            <a:off x="457200" y="566928"/>
            <a:ext cx="8229600" cy="320040"/>
          </a:xfrm>
          <a:prstGeom prst="rect">
            <a:avLst/>
          </a:prstGeom>
          <a:noFill/>
        </p:spPr>
        <p:txBody>
          <a:bodyPr wrap="square" anchor="t">
            <a:spAutoFit/>
          </a:bodyPr>
          <a:lstStyle/>
          <a:p>
            <a:pPr algn="l">
              <a:lnSpc>
                <a:spcPct val="100000"/>
              </a:lnSpc>
            </a:pPr>
            <a:r>
              <a:rPr sz="1300" b="0" i="0">
                <a:solidFill>
                  <a:srgbClr val="5FB48C"/>
                </a:solidFill>
                <a:latin typeface="Calibri"/>
              </a:rPr>
              <a:t>Consolidated business reports</a:t>
            </a:r>
          </a:p>
        </p:txBody>
      </p:sp>
      <p:pic>
        <p:nvPicPr>
          <p:cNvPr id="5" name="Picture 4" descr="16_reports.jpg"/>
          <p:cNvPicPr>
            <a:picLocks noChangeAspect="1"/>
          </p:cNvPicPr>
          <p:nvPr/>
        </p:nvPicPr>
        <p:blipFill>
          <a:blip r:embed="rId2"/>
          <a:stretch>
            <a:fillRect/>
          </a:stretch>
        </p:blipFill>
        <p:spPr>
          <a:xfrm>
            <a:off x="457200" y="2386566"/>
            <a:ext cx="5943600" cy="3044987"/>
          </a:xfrm>
          <a:prstGeom prst="rect">
            <a:avLst/>
          </a:prstGeom>
          <a:ln>
            <a:solidFill>
              <a:schemeClr val="tx1"/>
            </a:solidFill>
          </a:ln>
        </p:spPr>
      </p:pic>
      <p:sp>
        <p:nvSpPr>
          <p:cNvPr id="6" name="Rectangle 5"/>
          <p:cNvSpPr/>
          <p:nvPr/>
        </p:nvSpPr>
        <p:spPr>
          <a:xfrm>
            <a:off x="457200" y="2578573"/>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0" y="2596861"/>
            <a:ext cx="5029200" cy="4937760"/>
          </a:xfrm>
          <a:prstGeom prst="rect">
            <a:avLst/>
          </a:prstGeom>
          <a:noFill/>
        </p:spPr>
        <p:txBody>
          <a:bodyPr wrap="square">
            <a:spAutoFit/>
          </a:bodyPr>
          <a:lstStyle/>
          <a:p>
            <a:pPr>
              <a:spcAft>
                <a:spcPts val="1000"/>
              </a:spcAft>
            </a:pPr>
            <a:r>
              <a:rPr sz="1500" b="1" dirty="0">
                <a:solidFill>
                  <a:srgbClr val="1B5E3F"/>
                </a:solidFill>
                <a:latin typeface="Calibri"/>
              </a:rPr>
              <a:t>▸  What it is:  </a:t>
            </a:r>
            <a:r>
              <a:rPr sz="1500" b="0" dirty="0">
                <a:solidFill>
                  <a:srgbClr val="1A1A1A"/>
                </a:solidFill>
                <a:latin typeface="Calibri"/>
              </a:rPr>
              <a:t>Aggregated Sales / Expenses / Inventory / Purchasing / Forecast reports for a chosen period.</a:t>
            </a:r>
          </a:p>
          <a:p>
            <a:pPr>
              <a:spcAft>
                <a:spcPts val="1000"/>
              </a:spcAft>
            </a:pPr>
            <a:r>
              <a:rPr sz="1500" b="1" dirty="0">
                <a:solidFill>
                  <a:srgbClr val="1B5E3F"/>
                </a:solidFill>
                <a:latin typeface="Calibri"/>
              </a:rPr>
              <a:t>▸  Purpose:  </a:t>
            </a:r>
            <a:r>
              <a:rPr sz="1500" b="0" dirty="0">
                <a:solidFill>
                  <a:srgbClr val="1A1A1A"/>
                </a:solidFill>
                <a:latin typeface="Calibri"/>
              </a:rPr>
              <a:t>Give a printable/exportable summary suitable for review or handing to a bookkeeper.</a:t>
            </a:r>
          </a:p>
          <a:p>
            <a:pPr>
              <a:spcAft>
                <a:spcPts val="1000"/>
              </a:spcAft>
            </a:pPr>
            <a:r>
              <a:rPr sz="1500" b="1" dirty="0">
                <a:solidFill>
                  <a:srgbClr val="1B5E3F"/>
                </a:solidFill>
                <a:latin typeface="Calibri"/>
              </a:rPr>
              <a:t>▸  User can:  </a:t>
            </a:r>
            <a:r>
              <a:rPr sz="1500" b="0" dirty="0">
                <a:solidFill>
                  <a:srgbClr val="1A1A1A"/>
                </a:solidFill>
                <a:latin typeface="Calibri"/>
              </a:rPr>
              <a:t>Change the reporting period and category, switch report tabs, print, or export.</a:t>
            </a:r>
          </a:p>
          <a:p>
            <a:pPr>
              <a:spcAft>
                <a:spcPts val="1000"/>
              </a:spcAft>
            </a:pPr>
            <a:r>
              <a:rPr sz="1500" b="1" dirty="0">
                <a:solidFill>
                  <a:srgbClr val="1B5E3F"/>
                </a:solidFill>
                <a:latin typeface="Calibri"/>
              </a:rPr>
              <a:t>▸  Notable feature:  </a:t>
            </a:r>
            <a:r>
              <a:rPr sz="1500" b="0" dirty="0">
                <a:solidFill>
                  <a:srgbClr val="1A1A1A"/>
                </a:solidFill>
                <a:latin typeface="Calibri"/>
              </a:rPr>
              <a:t>“Net position” combines revenue, purchases, and expenses into a single bottom-line figure.</a:t>
            </a:r>
          </a:p>
        </p:txBody>
      </p:sp>
      <p:sp>
        <p:nvSpPr>
          <p:cNvPr id="8" name="TextBox 7"/>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System UI Flow</a:t>
            </a:r>
          </a:p>
        </p:txBody>
      </p:sp>
      <p:sp>
        <p:nvSpPr>
          <p:cNvPr id="9" name="TextBox 8"/>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229600" cy="457200"/>
          </a:xfrm>
          <a:prstGeom prst="rect">
            <a:avLst/>
          </a:prstGeom>
          <a:noFill/>
        </p:spPr>
        <p:txBody>
          <a:bodyPr wrap="square" anchor="t">
            <a:spAutoFit/>
          </a:bodyPr>
          <a:lstStyle/>
          <a:p>
            <a:pPr algn="l">
              <a:lnSpc>
                <a:spcPct val="100000"/>
              </a:lnSpc>
            </a:pPr>
            <a:r>
              <a:rPr sz="2600" b="1" i="0">
                <a:solidFill>
                  <a:srgbClr val="FFFFFF"/>
                </a:solidFill>
                <a:latin typeface="Calibri"/>
              </a:rPr>
              <a:t>Profile</a:t>
            </a:r>
          </a:p>
        </p:txBody>
      </p:sp>
      <p:sp>
        <p:nvSpPr>
          <p:cNvPr id="4" name="TextBox 3"/>
          <p:cNvSpPr txBox="1"/>
          <p:nvPr/>
        </p:nvSpPr>
        <p:spPr>
          <a:xfrm>
            <a:off x="457200" y="566928"/>
            <a:ext cx="8229600" cy="320040"/>
          </a:xfrm>
          <a:prstGeom prst="rect">
            <a:avLst/>
          </a:prstGeom>
          <a:noFill/>
        </p:spPr>
        <p:txBody>
          <a:bodyPr wrap="square" anchor="t">
            <a:spAutoFit/>
          </a:bodyPr>
          <a:lstStyle/>
          <a:p>
            <a:pPr algn="l">
              <a:lnSpc>
                <a:spcPct val="100000"/>
              </a:lnSpc>
            </a:pPr>
            <a:r>
              <a:rPr sz="1300" b="0" i="0">
                <a:solidFill>
                  <a:srgbClr val="5FB48C"/>
                </a:solidFill>
                <a:latin typeface="Calibri"/>
              </a:rPr>
              <a:t>Account &amp; business info</a:t>
            </a:r>
          </a:p>
        </p:txBody>
      </p:sp>
      <p:pic>
        <p:nvPicPr>
          <p:cNvPr id="5" name="Picture 4" descr="15_profile.jpg"/>
          <p:cNvPicPr>
            <a:picLocks noChangeAspect="1"/>
          </p:cNvPicPr>
          <p:nvPr/>
        </p:nvPicPr>
        <p:blipFill>
          <a:blip r:embed="rId2"/>
          <a:stretch>
            <a:fillRect/>
          </a:stretch>
        </p:blipFill>
        <p:spPr>
          <a:xfrm>
            <a:off x="457200" y="2372920"/>
            <a:ext cx="5943600" cy="2953547"/>
          </a:xfrm>
          <a:prstGeom prst="rect">
            <a:avLst/>
          </a:prstGeom>
          <a:ln>
            <a:solidFill>
              <a:schemeClr val="tx1"/>
            </a:solidFill>
          </a:ln>
        </p:spPr>
      </p:pic>
      <p:sp>
        <p:nvSpPr>
          <p:cNvPr id="7" name="TextBox 6"/>
          <p:cNvSpPr txBox="1"/>
          <p:nvPr/>
        </p:nvSpPr>
        <p:spPr>
          <a:xfrm>
            <a:off x="6675120" y="1234440"/>
            <a:ext cx="5029200" cy="4937760"/>
          </a:xfrm>
          <a:prstGeom prst="rect">
            <a:avLst/>
          </a:prstGeom>
          <a:noFill/>
        </p:spPr>
        <p:txBody>
          <a:bodyPr wrap="square">
            <a:spAutoFit/>
          </a:bodyPr>
          <a:lstStyle/>
          <a:p>
            <a:pPr>
              <a:spcAft>
                <a:spcPts val="1000"/>
              </a:spcAft>
            </a:pPr>
            <a:r>
              <a:rPr sz="1500" b="1">
                <a:solidFill>
                  <a:srgbClr val="1B5E3F"/>
                </a:solidFill>
                <a:latin typeface="Calibri"/>
              </a:rPr>
              <a:t>▸  What it is:  </a:t>
            </a:r>
            <a:r>
              <a:rPr sz="1500" b="0">
                <a:solidFill>
                  <a:srgbClr val="1A1A1A"/>
                </a:solidFill>
                <a:latin typeface="Calibri"/>
              </a:rPr>
              <a:t>The signed-in user's account and business summary.</a:t>
            </a:r>
          </a:p>
          <a:p>
            <a:pPr>
              <a:spcAft>
                <a:spcPts val="1000"/>
              </a:spcAft>
            </a:pPr>
            <a:r>
              <a:rPr sz="1500" b="1">
                <a:solidFill>
                  <a:srgbClr val="1B5E3F"/>
                </a:solidFill>
                <a:latin typeface="Calibri"/>
              </a:rPr>
              <a:t>▸  Purpose:  </a:t>
            </a:r>
            <a:r>
              <a:rPr sz="1500" b="0">
                <a:solidFill>
                  <a:srgbClr val="1A1A1A"/>
                </a:solidFill>
                <a:latin typeface="Calibri"/>
              </a:rPr>
              <a:t>Show who's logged in, their role, and which business they're viewing.</a:t>
            </a:r>
          </a:p>
          <a:p>
            <a:pPr>
              <a:spcAft>
                <a:spcPts val="1000"/>
              </a:spcAft>
            </a:pPr>
            <a:r>
              <a:rPr sz="1500" b="1">
                <a:solidFill>
                  <a:srgbClr val="1B5E3F"/>
                </a:solidFill>
                <a:latin typeface="Calibri"/>
              </a:rPr>
              <a:t>▸  User can:  </a:t>
            </a:r>
            <a:r>
              <a:rPr sz="1500" b="0">
                <a:solidFill>
                  <a:srgbClr val="1A1A1A"/>
                </a:solidFill>
                <a:latin typeface="Calibri"/>
              </a:rPr>
              <a:t>Edit their profile, or jump to Settings and Security or Logout.</a:t>
            </a:r>
          </a:p>
          <a:p>
            <a:pPr>
              <a:spcAft>
                <a:spcPts val="1000"/>
              </a:spcAft>
            </a:pPr>
            <a:r>
              <a:rPr sz="1500" b="1">
                <a:solidFill>
                  <a:srgbClr val="1B5E3F"/>
                </a:solidFill>
                <a:latin typeface="Calibri"/>
              </a:rPr>
              <a:t>▸  Notable feature:  </a:t>
            </a:r>
            <a:r>
              <a:rPr sz="1500" b="0">
                <a:solidFill>
                  <a:srgbClr val="1A1A1A"/>
                </a:solidFill>
                <a:latin typeface="Calibri"/>
              </a:rPr>
              <a:t>Surfaces the OWNER/ADMIN/STAFF role that gates manager-only actions across Inventory, Suppliers, and more.</a:t>
            </a:r>
          </a:p>
        </p:txBody>
      </p:sp>
      <p:sp>
        <p:nvSpPr>
          <p:cNvPr id="8" name="TextBox 7"/>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System UI Flow</a:t>
            </a:r>
          </a:p>
        </p:txBody>
      </p:sp>
      <p:sp>
        <p:nvSpPr>
          <p:cNvPr id="9" name="TextBox 8"/>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19</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229600" cy="457200"/>
          </a:xfrm>
          <a:prstGeom prst="rect">
            <a:avLst/>
          </a:prstGeom>
          <a:noFill/>
        </p:spPr>
        <p:txBody>
          <a:bodyPr wrap="square" anchor="t">
            <a:spAutoFit/>
          </a:bodyPr>
          <a:lstStyle/>
          <a:p>
            <a:pPr algn="l">
              <a:lnSpc>
                <a:spcPct val="100000"/>
              </a:lnSpc>
            </a:pPr>
            <a:r>
              <a:rPr sz="2600" b="1" i="0">
                <a:solidFill>
                  <a:srgbClr val="FFFFFF"/>
                </a:solidFill>
                <a:latin typeface="Calibri"/>
              </a:rPr>
              <a:t>Settings</a:t>
            </a:r>
          </a:p>
        </p:txBody>
      </p:sp>
      <p:sp>
        <p:nvSpPr>
          <p:cNvPr id="4" name="TextBox 3"/>
          <p:cNvSpPr txBox="1"/>
          <p:nvPr/>
        </p:nvSpPr>
        <p:spPr>
          <a:xfrm>
            <a:off x="457200" y="566928"/>
            <a:ext cx="8229600" cy="320040"/>
          </a:xfrm>
          <a:prstGeom prst="rect">
            <a:avLst/>
          </a:prstGeom>
          <a:noFill/>
        </p:spPr>
        <p:txBody>
          <a:bodyPr wrap="square" anchor="t">
            <a:spAutoFit/>
          </a:bodyPr>
          <a:lstStyle/>
          <a:p>
            <a:pPr algn="l">
              <a:lnSpc>
                <a:spcPct val="100000"/>
              </a:lnSpc>
            </a:pPr>
            <a:r>
              <a:rPr sz="1300" b="0" i="0">
                <a:solidFill>
                  <a:srgbClr val="5FB48C"/>
                </a:solidFill>
                <a:latin typeface="Calibri"/>
              </a:rPr>
              <a:t>Account, business &amp; notification preferences</a:t>
            </a:r>
          </a:p>
        </p:txBody>
      </p:sp>
      <p:pic>
        <p:nvPicPr>
          <p:cNvPr id="5" name="Picture 4" descr="17_settings.jpg"/>
          <p:cNvPicPr>
            <a:picLocks noChangeAspect="1"/>
          </p:cNvPicPr>
          <p:nvPr/>
        </p:nvPicPr>
        <p:blipFill>
          <a:blip r:embed="rId2"/>
          <a:stretch>
            <a:fillRect/>
          </a:stretch>
        </p:blipFill>
        <p:spPr>
          <a:xfrm>
            <a:off x="457200" y="2135194"/>
            <a:ext cx="5943600" cy="3429000"/>
          </a:xfrm>
          <a:prstGeom prst="rect">
            <a:avLst/>
          </a:prstGeom>
          <a:ln>
            <a:solidFill>
              <a:schemeClr val="tx1"/>
            </a:solidFill>
          </a:ln>
        </p:spPr>
      </p:pic>
      <p:sp>
        <p:nvSpPr>
          <p:cNvPr id="6" name="Rectangle 5"/>
          <p:cNvSpPr/>
          <p:nvPr/>
        </p:nvSpPr>
        <p:spPr>
          <a:xfrm>
            <a:off x="457200" y="2135194"/>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0" y="2642616"/>
            <a:ext cx="5029200" cy="4937760"/>
          </a:xfrm>
          <a:prstGeom prst="rect">
            <a:avLst/>
          </a:prstGeom>
          <a:noFill/>
        </p:spPr>
        <p:txBody>
          <a:bodyPr wrap="square">
            <a:spAutoFit/>
          </a:bodyPr>
          <a:lstStyle/>
          <a:p>
            <a:pPr>
              <a:spcAft>
                <a:spcPts val="1000"/>
              </a:spcAft>
            </a:pPr>
            <a:r>
              <a:rPr sz="1500" b="1" dirty="0">
                <a:solidFill>
                  <a:srgbClr val="1B5E3F"/>
                </a:solidFill>
                <a:latin typeface="Calibri"/>
              </a:rPr>
              <a:t>▸  What it is:  </a:t>
            </a:r>
            <a:r>
              <a:rPr sz="1500" b="0" dirty="0">
                <a:solidFill>
                  <a:srgbClr val="1A1A1A"/>
                </a:solidFill>
                <a:latin typeface="Calibri"/>
              </a:rPr>
              <a:t>Configuration for the account, the business, and notifications.</a:t>
            </a:r>
          </a:p>
          <a:p>
            <a:pPr>
              <a:spcAft>
                <a:spcPts val="1000"/>
              </a:spcAft>
            </a:pPr>
            <a:r>
              <a:rPr sz="1500" b="1" dirty="0">
                <a:solidFill>
                  <a:srgbClr val="1B5E3F"/>
                </a:solidFill>
                <a:latin typeface="Calibri"/>
              </a:rPr>
              <a:t>▸  Purpose:  </a:t>
            </a:r>
            <a:r>
              <a:rPr sz="1500" b="0" dirty="0">
                <a:solidFill>
                  <a:srgbClr val="1A1A1A"/>
                </a:solidFill>
                <a:latin typeface="Calibri"/>
              </a:rPr>
              <a:t>Let the owner tune currency, reorder-cover days, week start, and which alerts fire.</a:t>
            </a:r>
          </a:p>
          <a:p>
            <a:pPr>
              <a:spcAft>
                <a:spcPts val="1000"/>
              </a:spcAft>
            </a:pPr>
            <a:r>
              <a:rPr sz="1500" b="1" dirty="0">
                <a:solidFill>
                  <a:srgbClr val="1B5E3F"/>
                </a:solidFill>
                <a:latin typeface="Calibri"/>
              </a:rPr>
              <a:t>▸  User can:  </a:t>
            </a:r>
            <a:r>
              <a:rPr sz="1500" b="0" dirty="0">
                <a:solidFill>
                  <a:srgbClr val="1A1A1A"/>
                </a:solidFill>
                <a:latin typeface="Calibri"/>
              </a:rPr>
              <a:t>Toggle low-stock/supplier-price/forecast alerts, change currency and date format, and save changes.</a:t>
            </a:r>
          </a:p>
          <a:p>
            <a:pPr>
              <a:spcAft>
                <a:spcPts val="1000"/>
              </a:spcAft>
            </a:pPr>
            <a:r>
              <a:rPr sz="1500" b="1" dirty="0">
                <a:solidFill>
                  <a:srgbClr val="1B5E3F"/>
                </a:solidFill>
                <a:latin typeface="Calibri"/>
              </a:rPr>
              <a:t>▸  Notable feature:  </a:t>
            </a:r>
            <a:r>
              <a:rPr sz="1500" b="0" dirty="0">
                <a:solidFill>
                  <a:srgbClr val="1A1A1A"/>
                </a:solidFill>
                <a:latin typeface="Calibri"/>
              </a:rPr>
              <a:t>“Default reorder cover” directly configures how the demand-forecast/recommendation logic decides when stock is “low”.</a:t>
            </a:r>
          </a:p>
        </p:txBody>
      </p:sp>
      <p:sp>
        <p:nvSpPr>
          <p:cNvPr id="8" name="TextBox 7"/>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System UI Flow</a:t>
            </a:r>
          </a:p>
        </p:txBody>
      </p:sp>
      <p:sp>
        <p:nvSpPr>
          <p:cNvPr id="9" name="TextBox 8"/>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8229600" cy="457200"/>
          </a:xfrm>
          <a:prstGeom prst="rect">
            <a:avLst/>
          </a:prstGeom>
          <a:noFill/>
        </p:spPr>
        <p:txBody>
          <a:bodyPr wrap="square" anchor="t">
            <a:spAutoFit/>
          </a:bodyPr>
          <a:lstStyle/>
          <a:p>
            <a:pPr algn="l">
              <a:lnSpc>
                <a:spcPct val="100000"/>
              </a:lnSpc>
            </a:pPr>
            <a:r>
              <a:rPr sz="2600" b="1" i="0">
                <a:solidFill>
                  <a:srgbClr val="FFFFFF"/>
                </a:solidFill>
                <a:latin typeface="Calibri"/>
              </a:rPr>
              <a:t>Logout</a:t>
            </a:r>
          </a:p>
        </p:txBody>
      </p:sp>
      <p:sp>
        <p:nvSpPr>
          <p:cNvPr id="4" name="TextBox 3"/>
          <p:cNvSpPr txBox="1"/>
          <p:nvPr/>
        </p:nvSpPr>
        <p:spPr>
          <a:xfrm>
            <a:off x="457200" y="566928"/>
            <a:ext cx="8229600" cy="320040"/>
          </a:xfrm>
          <a:prstGeom prst="rect">
            <a:avLst/>
          </a:prstGeom>
          <a:noFill/>
        </p:spPr>
        <p:txBody>
          <a:bodyPr wrap="square" anchor="t">
            <a:spAutoFit/>
          </a:bodyPr>
          <a:lstStyle/>
          <a:p>
            <a:pPr algn="l">
              <a:lnSpc>
                <a:spcPct val="100000"/>
              </a:lnSpc>
            </a:pPr>
            <a:r>
              <a:rPr sz="1300" b="0" i="0">
                <a:solidFill>
                  <a:srgbClr val="5FB48C"/>
                </a:solidFill>
                <a:latin typeface="Calibri"/>
              </a:rPr>
              <a:t>Sign-out confirmation</a:t>
            </a:r>
          </a:p>
        </p:txBody>
      </p:sp>
      <p:pic>
        <p:nvPicPr>
          <p:cNvPr id="5" name="Picture 4" descr="18_logout_modal.jpg"/>
          <p:cNvPicPr>
            <a:picLocks noChangeAspect="1"/>
          </p:cNvPicPr>
          <p:nvPr/>
        </p:nvPicPr>
        <p:blipFill>
          <a:blip r:embed="rId2"/>
          <a:stretch>
            <a:fillRect/>
          </a:stretch>
        </p:blipFill>
        <p:spPr>
          <a:xfrm>
            <a:off x="457200" y="2226616"/>
            <a:ext cx="5943600" cy="3246155"/>
          </a:xfrm>
          <a:prstGeom prst="rect">
            <a:avLst/>
          </a:prstGeom>
        </p:spPr>
      </p:pic>
      <p:sp>
        <p:nvSpPr>
          <p:cNvPr id="6" name="Rectangle 5"/>
          <p:cNvSpPr/>
          <p:nvPr/>
        </p:nvSpPr>
        <p:spPr>
          <a:xfrm>
            <a:off x="457200" y="2226616"/>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0" y="2519207"/>
            <a:ext cx="5029200" cy="4937760"/>
          </a:xfrm>
          <a:prstGeom prst="rect">
            <a:avLst/>
          </a:prstGeom>
          <a:noFill/>
        </p:spPr>
        <p:txBody>
          <a:bodyPr wrap="square">
            <a:spAutoFit/>
          </a:bodyPr>
          <a:lstStyle/>
          <a:p>
            <a:pPr>
              <a:spcAft>
                <a:spcPts val="1000"/>
              </a:spcAft>
            </a:pPr>
            <a:r>
              <a:rPr sz="1500" b="1" dirty="0">
                <a:solidFill>
                  <a:srgbClr val="1B5E3F"/>
                </a:solidFill>
                <a:latin typeface="Calibri"/>
              </a:rPr>
              <a:t>▸  What it is:  </a:t>
            </a:r>
            <a:r>
              <a:rPr sz="1500" b="0" dirty="0">
                <a:solidFill>
                  <a:srgbClr val="1A1A1A"/>
                </a:solidFill>
                <a:latin typeface="Calibri"/>
              </a:rPr>
              <a:t>A confirmation dialog shown before signing the user out.</a:t>
            </a:r>
          </a:p>
          <a:p>
            <a:pPr>
              <a:spcAft>
                <a:spcPts val="1000"/>
              </a:spcAft>
            </a:pPr>
            <a:r>
              <a:rPr sz="1500" b="1" dirty="0">
                <a:solidFill>
                  <a:srgbClr val="1B5E3F"/>
                </a:solidFill>
                <a:latin typeface="Calibri"/>
              </a:rPr>
              <a:t>▸  Purpose:  </a:t>
            </a:r>
            <a:r>
              <a:rPr sz="1500" b="0" dirty="0">
                <a:solidFill>
                  <a:srgbClr val="1A1A1A"/>
                </a:solidFill>
                <a:latin typeface="Calibri"/>
              </a:rPr>
              <a:t>Prevent an accidental logout from interrupting the user's work.</a:t>
            </a:r>
          </a:p>
          <a:p>
            <a:pPr>
              <a:spcAft>
                <a:spcPts val="1000"/>
              </a:spcAft>
            </a:pPr>
            <a:r>
              <a:rPr sz="1500" b="1" dirty="0">
                <a:solidFill>
                  <a:srgbClr val="1B5E3F"/>
                </a:solidFill>
                <a:latin typeface="Calibri"/>
              </a:rPr>
              <a:t>▸  User can:  </a:t>
            </a:r>
            <a:r>
              <a:rPr sz="1500" b="0" dirty="0">
                <a:solidFill>
                  <a:srgbClr val="1A1A1A"/>
                </a:solidFill>
                <a:latin typeface="Calibri"/>
              </a:rPr>
              <a:t>Confirm (“Log out”) to end the session and return to Login, or cancel (“Stay signed in”).</a:t>
            </a:r>
          </a:p>
          <a:p>
            <a:pPr>
              <a:spcAft>
                <a:spcPts val="1000"/>
              </a:spcAft>
            </a:pPr>
            <a:r>
              <a:rPr sz="1500" b="1" dirty="0">
                <a:solidFill>
                  <a:srgbClr val="1B5E3F"/>
                </a:solidFill>
                <a:latin typeface="Calibri"/>
              </a:rPr>
              <a:t>▸  Notable feature:  </a:t>
            </a:r>
            <a:r>
              <a:rPr sz="1500" b="0" dirty="0">
                <a:solidFill>
                  <a:srgbClr val="1A1A1A"/>
                </a:solidFill>
                <a:latin typeface="Calibri"/>
              </a:rPr>
              <a:t>Another example of the shared </a:t>
            </a:r>
            <a:r>
              <a:rPr sz="1500" b="0" dirty="0" err="1">
                <a:solidFill>
                  <a:srgbClr val="1A1A1A"/>
                </a:solidFill>
                <a:latin typeface="Calibri"/>
              </a:rPr>
              <a:t>IonModal</a:t>
            </a:r>
            <a:r>
              <a:rPr sz="1500" b="0" dirty="0">
                <a:solidFill>
                  <a:srgbClr val="1A1A1A"/>
                </a:solidFill>
                <a:latin typeface="Calibri"/>
              </a:rPr>
              <a:t>-based </a:t>
            </a:r>
            <a:r>
              <a:rPr sz="1500" b="0" dirty="0" err="1">
                <a:solidFill>
                  <a:srgbClr val="1A1A1A"/>
                </a:solidFill>
                <a:latin typeface="Calibri"/>
              </a:rPr>
              <a:t>ConfirmDialog</a:t>
            </a:r>
            <a:r>
              <a:rPr sz="1500" b="0" dirty="0">
                <a:solidFill>
                  <a:srgbClr val="1A1A1A"/>
                </a:solidFill>
                <a:latin typeface="Calibri"/>
              </a:rPr>
              <a:t> component used throughout the app.</a:t>
            </a:r>
          </a:p>
        </p:txBody>
      </p:sp>
      <p:sp>
        <p:nvSpPr>
          <p:cNvPr id="8" name="TextBox 7"/>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System UI Flow</a:t>
            </a:r>
          </a:p>
        </p:txBody>
      </p:sp>
      <p:sp>
        <p:nvSpPr>
          <p:cNvPr id="9" name="TextBox 8"/>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21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B5E3F"/>
        </a:solidFill>
        <a:effectLst/>
      </p:bgPr>
    </p:bg>
    <p:spTree>
      <p:nvGrpSpPr>
        <p:cNvPr id="1" name=""/>
        <p:cNvGrpSpPr/>
        <p:nvPr/>
      </p:nvGrpSpPr>
      <p:grpSpPr>
        <a:xfrm>
          <a:off x="0" y="0"/>
          <a:ext cx="0" cy="0"/>
          <a:chOff x="0" y="0"/>
          <a:chExt cx="0" cy="0"/>
        </a:xfrm>
      </p:grpSpPr>
      <p:sp>
        <p:nvSpPr>
          <p:cNvPr id="2" name="Rectangle 1"/>
          <p:cNvSpPr/>
          <p:nvPr/>
        </p:nvSpPr>
        <p:spPr>
          <a:xfrm>
            <a:off x="0" y="3017520"/>
            <a:ext cx="12191695" cy="36576"/>
          </a:xfrm>
          <a:prstGeom prst="rect">
            <a:avLst/>
          </a:prstGeom>
          <a:solidFill>
            <a:srgbClr val="5FB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754076"/>
            <a:ext cx="10332720" cy="1107996"/>
          </a:xfrm>
          <a:prstGeom prst="rect">
            <a:avLst/>
          </a:prstGeom>
          <a:noFill/>
        </p:spPr>
        <p:txBody>
          <a:bodyPr wrap="square" anchor="t">
            <a:spAutoFit/>
          </a:bodyPr>
          <a:lstStyle/>
          <a:p>
            <a:pPr algn="ctr">
              <a:lnSpc>
                <a:spcPct val="100000"/>
              </a:lnSpc>
            </a:pPr>
            <a:r>
              <a:rPr sz="6600" b="1" i="0" dirty="0">
                <a:solidFill>
                  <a:srgbClr val="FFFFFF"/>
                </a:solidFill>
                <a:latin typeface="Calibri"/>
              </a:rPr>
              <a:t>Ionic Implementation</a:t>
            </a:r>
          </a:p>
        </p:txBody>
      </p:sp>
      <p:sp>
        <p:nvSpPr>
          <p:cNvPr id="4" name="TextBox 3"/>
          <p:cNvSpPr txBox="1"/>
          <p:nvPr/>
        </p:nvSpPr>
        <p:spPr>
          <a:xfrm>
            <a:off x="914400" y="3246120"/>
            <a:ext cx="10332720" cy="369332"/>
          </a:xfrm>
          <a:prstGeom prst="rect">
            <a:avLst/>
          </a:prstGeom>
          <a:noFill/>
        </p:spPr>
        <p:txBody>
          <a:bodyPr wrap="square" anchor="t">
            <a:spAutoFit/>
          </a:bodyPr>
          <a:lstStyle/>
          <a:p>
            <a:pPr algn="ctr">
              <a:lnSpc>
                <a:spcPct val="100000"/>
              </a:lnSpc>
            </a:pPr>
            <a:r>
              <a:rPr b="0" i="0" dirty="0">
                <a:solidFill>
                  <a:srgbClr val="5FB48C"/>
                </a:solidFill>
                <a:latin typeface="Calibri"/>
              </a:rPr>
              <a:t>How the Ionic Framework was used to build and package the app</a:t>
            </a:r>
          </a:p>
        </p:txBody>
      </p:sp>
      <p:sp>
        <p:nvSpPr>
          <p:cNvPr id="5" name="TextBox 4"/>
          <p:cNvSpPr txBox="1"/>
          <p:nvPr/>
        </p:nvSpPr>
        <p:spPr>
          <a:xfrm>
            <a:off x="457200" y="6537960"/>
            <a:ext cx="5486400" cy="246221"/>
          </a:xfrm>
          <a:prstGeom prst="rect">
            <a:avLst/>
          </a:prstGeom>
          <a:noFill/>
        </p:spPr>
        <p:txBody>
          <a:bodyPr wrap="square" anchor="t">
            <a:spAutoFit/>
          </a:bodyPr>
          <a:lstStyle/>
          <a:p>
            <a:pPr algn="l">
              <a:lnSpc>
                <a:spcPct val="100000"/>
              </a:lnSpc>
            </a:pPr>
            <a:r>
              <a:rPr sz="1000" b="0" i="0" dirty="0" err="1">
                <a:solidFill>
                  <a:srgbClr val="5B635E"/>
                </a:solidFill>
                <a:latin typeface="Calibri"/>
              </a:rPr>
              <a:t>Bantayledger</a:t>
            </a:r>
            <a:r>
              <a:rPr sz="1000" b="0" i="0" dirty="0">
                <a:solidFill>
                  <a:srgbClr val="5B635E"/>
                </a:solidFill>
                <a:latin typeface="Calibri"/>
              </a:rPr>
              <a:t> </a:t>
            </a:r>
            <a:r>
              <a:rPr lang="en-PH" sz="1000" b="0" i="0" dirty="0">
                <a:solidFill>
                  <a:srgbClr val="5B635E"/>
                </a:solidFill>
                <a:latin typeface="Calibri"/>
              </a:rPr>
              <a:t>-</a:t>
            </a:r>
            <a:r>
              <a:rPr sz="1000" b="0" i="0" dirty="0">
                <a:solidFill>
                  <a:srgbClr val="5B635E"/>
                </a:solidFill>
                <a:latin typeface="Calibri"/>
              </a:rPr>
              <a:t> </a:t>
            </a:r>
            <a:r>
              <a:rPr sz="1000" b="0" i="0" dirty="0" err="1">
                <a:solidFill>
                  <a:srgbClr val="5B635E"/>
                </a:solidFill>
                <a:latin typeface="Calibri"/>
              </a:rPr>
              <a:t>Technopreneurship</a:t>
            </a:r>
            <a:endParaRPr sz="1000" b="0" i="0" dirty="0">
              <a:solidFill>
                <a:srgbClr val="5B635E"/>
              </a:solidFill>
              <a:latin typeface="Calibri"/>
            </a:endParaRPr>
          </a:p>
        </p:txBody>
      </p:sp>
      <p:sp>
        <p:nvSpPr>
          <p:cNvPr id="6" name="TextBox 5"/>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22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9144000" cy="548640"/>
          </a:xfrm>
          <a:prstGeom prst="rect">
            <a:avLst/>
          </a:prstGeom>
          <a:noFill/>
        </p:spPr>
        <p:txBody>
          <a:bodyPr wrap="square" anchor="t">
            <a:spAutoFit/>
          </a:bodyPr>
          <a:lstStyle/>
          <a:p>
            <a:pPr algn="l">
              <a:lnSpc>
                <a:spcPct val="100000"/>
              </a:lnSpc>
            </a:pPr>
            <a:r>
              <a:rPr sz="2600" b="1" i="0">
                <a:solidFill>
                  <a:srgbClr val="FFFFFF"/>
                </a:solidFill>
                <a:latin typeface="Calibri"/>
              </a:rPr>
              <a:t>Routing &amp; Navigation</a:t>
            </a:r>
          </a:p>
        </p:txBody>
      </p:sp>
      <p:pic>
        <p:nvPicPr>
          <p:cNvPr id="4" name="Picture 3" descr="06_sales.jpg"/>
          <p:cNvPicPr>
            <a:picLocks noChangeAspect="1"/>
          </p:cNvPicPr>
          <p:nvPr/>
        </p:nvPicPr>
        <p:blipFill>
          <a:blip r:embed="rId2"/>
          <a:stretch>
            <a:fillRect/>
          </a:stretch>
        </p:blipFill>
        <p:spPr>
          <a:xfrm>
            <a:off x="457200" y="2155776"/>
            <a:ext cx="5943600" cy="3387835"/>
          </a:xfrm>
          <a:prstGeom prst="rect">
            <a:avLst/>
          </a:prstGeom>
        </p:spPr>
      </p:pic>
      <p:sp>
        <p:nvSpPr>
          <p:cNvPr id="5" name="Rectangle 4"/>
          <p:cNvSpPr/>
          <p:nvPr/>
        </p:nvSpPr>
        <p:spPr>
          <a:xfrm>
            <a:off x="457200" y="1188720"/>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75120" y="1234440"/>
            <a:ext cx="5029200" cy="320040"/>
          </a:xfrm>
          <a:prstGeom prst="rect">
            <a:avLst/>
          </a:prstGeom>
          <a:noFill/>
        </p:spPr>
        <p:txBody>
          <a:bodyPr wrap="square" anchor="t">
            <a:spAutoFit/>
          </a:bodyPr>
          <a:lstStyle/>
          <a:p>
            <a:pPr algn="l">
              <a:lnSpc>
                <a:spcPct val="100000"/>
              </a:lnSpc>
            </a:pPr>
            <a:r>
              <a:rPr sz="1300" b="1" i="0">
                <a:solidFill>
                  <a:srgbClr val="1B5E3F"/>
                </a:solidFill>
                <a:latin typeface="Calibri"/>
              </a:rPr>
              <a:t>IMPLEMENTATION</a:t>
            </a:r>
          </a:p>
        </p:txBody>
      </p:sp>
      <p:sp>
        <p:nvSpPr>
          <p:cNvPr id="7" name="TextBox 6"/>
          <p:cNvSpPr txBox="1"/>
          <p:nvPr/>
        </p:nvSpPr>
        <p:spPr>
          <a:xfrm>
            <a:off x="6675120" y="1600200"/>
            <a:ext cx="5029200" cy="1280160"/>
          </a:xfrm>
          <a:prstGeom prst="rect">
            <a:avLst/>
          </a:prstGeom>
          <a:noFill/>
        </p:spPr>
        <p:txBody>
          <a:bodyPr wrap="square" anchor="t">
            <a:spAutoFit/>
          </a:bodyPr>
          <a:lstStyle/>
          <a:p>
            <a:pPr algn="l">
              <a:lnSpc>
                <a:spcPct val="115000"/>
              </a:lnSpc>
            </a:pPr>
            <a:r>
              <a:rPr sz="1350" b="0" i="0">
                <a:solidFill>
                  <a:srgbClr val="1A1A1A"/>
                </a:solidFill>
                <a:latin typeface="Calibri"/>
              </a:rPr>
              <a:t>IonReactRouter + IonRouterOutlet wrap react-router-dom's Switch/Route/Redirect in src/App.tsx, handling all top-level navigation (/login, /dashboard, /inventory, /sales, ... /settings).</a:t>
            </a:r>
          </a:p>
        </p:txBody>
      </p:sp>
      <p:sp>
        <p:nvSpPr>
          <p:cNvPr id="8" name="TextBox 7"/>
          <p:cNvSpPr txBox="1"/>
          <p:nvPr/>
        </p:nvSpPr>
        <p:spPr>
          <a:xfrm>
            <a:off x="6675120" y="3017520"/>
            <a:ext cx="5029200" cy="320040"/>
          </a:xfrm>
          <a:prstGeom prst="rect">
            <a:avLst/>
          </a:prstGeom>
          <a:noFill/>
        </p:spPr>
        <p:txBody>
          <a:bodyPr wrap="square" anchor="t">
            <a:spAutoFit/>
          </a:bodyPr>
          <a:lstStyle/>
          <a:p>
            <a:pPr algn="l">
              <a:lnSpc>
                <a:spcPct val="100000"/>
              </a:lnSpc>
            </a:pPr>
            <a:r>
              <a:rPr sz="1300" b="1" i="0">
                <a:solidFill>
                  <a:srgbClr val="1B5E3F"/>
                </a:solidFill>
                <a:latin typeface="Calibri"/>
              </a:rPr>
              <a:t>PURPOSE</a:t>
            </a:r>
          </a:p>
        </p:txBody>
      </p:sp>
      <p:sp>
        <p:nvSpPr>
          <p:cNvPr id="9" name="TextBox 8"/>
          <p:cNvSpPr txBox="1"/>
          <p:nvPr/>
        </p:nvSpPr>
        <p:spPr>
          <a:xfrm>
            <a:off x="6675120" y="3383280"/>
            <a:ext cx="5029200" cy="1280160"/>
          </a:xfrm>
          <a:prstGeom prst="rect">
            <a:avLst/>
          </a:prstGeom>
          <a:noFill/>
        </p:spPr>
        <p:txBody>
          <a:bodyPr wrap="square" anchor="t">
            <a:spAutoFit/>
          </a:bodyPr>
          <a:lstStyle/>
          <a:p>
            <a:pPr algn="l">
              <a:lnSpc>
                <a:spcPct val="115000"/>
              </a:lnSpc>
            </a:pPr>
            <a:r>
              <a:rPr sz="1350" b="0" i="0">
                <a:solidFill>
                  <a:srgbClr val="1A1A1A"/>
                </a:solidFill>
                <a:latin typeface="Calibri"/>
              </a:rPr>
              <a:t>Give the app a single-page, native-feeling navigation shell while still using react-router's familiar declarative routing, with pages lazy-loaded to keep the initial bundle small.</a:t>
            </a:r>
          </a:p>
        </p:txBody>
      </p:sp>
      <p:sp>
        <p:nvSpPr>
          <p:cNvPr id="10" name="TextBox 9"/>
          <p:cNvSpPr txBox="1"/>
          <p:nvPr/>
        </p:nvSpPr>
        <p:spPr>
          <a:xfrm>
            <a:off x="6675120" y="4800600"/>
            <a:ext cx="5029200" cy="320040"/>
          </a:xfrm>
          <a:prstGeom prst="rect">
            <a:avLst/>
          </a:prstGeom>
          <a:noFill/>
        </p:spPr>
        <p:txBody>
          <a:bodyPr wrap="square" anchor="t">
            <a:spAutoFit/>
          </a:bodyPr>
          <a:lstStyle/>
          <a:p>
            <a:pPr algn="l">
              <a:lnSpc>
                <a:spcPct val="100000"/>
              </a:lnSpc>
            </a:pPr>
            <a:r>
              <a:rPr sz="1300" b="1" i="0">
                <a:solidFill>
                  <a:srgbClr val="1B5E3F"/>
                </a:solidFill>
                <a:latin typeface="Calibri"/>
              </a:rPr>
              <a:t>RESULT</a:t>
            </a:r>
          </a:p>
        </p:txBody>
      </p:sp>
      <p:sp>
        <p:nvSpPr>
          <p:cNvPr id="11" name="TextBox 10"/>
          <p:cNvSpPr txBox="1"/>
          <p:nvPr/>
        </p:nvSpPr>
        <p:spPr>
          <a:xfrm>
            <a:off x="6675120" y="5166360"/>
            <a:ext cx="5029200" cy="1280160"/>
          </a:xfrm>
          <a:prstGeom prst="rect">
            <a:avLst/>
          </a:prstGeom>
          <a:noFill/>
        </p:spPr>
        <p:txBody>
          <a:bodyPr wrap="square" anchor="t">
            <a:spAutoFit/>
          </a:bodyPr>
          <a:lstStyle/>
          <a:p>
            <a:pPr algn="l">
              <a:lnSpc>
                <a:spcPct val="115000"/>
              </a:lnSpc>
            </a:pPr>
            <a:r>
              <a:rPr sz="1350" b="0" i="0">
                <a:solidFill>
                  <a:srgbClr val="1A1A1A"/>
                </a:solidFill>
                <a:latin typeface="Calibri"/>
              </a:rPr>
              <a:t>Every screen in the previous section is a route rendered inside IonRouterOutlet. Protected routes redirect signed-out users to Login; public-only routes bounce signed-in users away from Login/Register.</a:t>
            </a:r>
          </a:p>
        </p:txBody>
      </p:sp>
      <p:sp>
        <p:nvSpPr>
          <p:cNvPr id="12" name="TextBox 11"/>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Ionic Implementation</a:t>
            </a:r>
          </a:p>
        </p:txBody>
      </p:sp>
      <p:sp>
        <p:nvSpPr>
          <p:cNvPr id="13" name="TextBox 12"/>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23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9144000" cy="548640"/>
          </a:xfrm>
          <a:prstGeom prst="rect">
            <a:avLst/>
          </a:prstGeom>
          <a:noFill/>
        </p:spPr>
        <p:txBody>
          <a:bodyPr wrap="square" anchor="t">
            <a:spAutoFit/>
          </a:bodyPr>
          <a:lstStyle/>
          <a:p>
            <a:pPr algn="l">
              <a:lnSpc>
                <a:spcPct val="100000"/>
              </a:lnSpc>
            </a:pPr>
            <a:r>
              <a:rPr sz="2600" b="1" i="0">
                <a:solidFill>
                  <a:srgbClr val="FFFFFF"/>
                </a:solidFill>
                <a:latin typeface="Calibri"/>
              </a:rPr>
              <a:t>Modals (IonModal)</a:t>
            </a:r>
          </a:p>
        </p:txBody>
      </p:sp>
      <p:pic>
        <p:nvPicPr>
          <p:cNvPr id="4" name="Picture 3" descr="07_add_sale_modal.jpg"/>
          <p:cNvPicPr>
            <a:picLocks noChangeAspect="1"/>
          </p:cNvPicPr>
          <p:nvPr/>
        </p:nvPicPr>
        <p:blipFill>
          <a:blip r:embed="rId2"/>
          <a:stretch>
            <a:fillRect/>
          </a:stretch>
        </p:blipFill>
        <p:spPr>
          <a:xfrm>
            <a:off x="457200" y="2112264"/>
            <a:ext cx="5943600" cy="3557016"/>
          </a:xfrm>
          <a:prstGeom prst="rect">
            <a:avLst/>
          </a:prstGeom>
        </p:spPr>
      </p:pic>
      <p:sp>
        <p:nvSpPr>
          <p:cNvPr id="5" name="Rectangle 4"/>
          <p:cNvSpPr/>
          <p:nvPr/>
        </p:nvSpPr>
        <p:spPr>
          <a:xfrm>
            <a:off x="457200" y="1188720"/>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75120" y="1234440"/>
            <a:ext cx="5029200" cy="320040"/>
          </a:xfrm>
          <a:prstGeom prst="rect">
            <a:avLst/>
          </a:prstGeom>
          <a:noFill/>
        </p:spPr>
        <p:txBody>
          <a:bodyPr wrap="square" anchor="t">
            <a:spAutoFit/>
          </a:bodyPr>
          <a:lstStyle/>
          <a:p>
            <a:pPr algn="l">
              <a:lnSpc>
                <a:spcPct val="100000"/>
              </a:lnSpc>
            </a:pPr>
            <a:r>
              <a:rPr sz="1300" b="1" i="0">
                <a:solidFill>
                  <a:srgbClr val="1B5E3F"/>
                </a:solidFill>
                <a:latin typeface="Calibri"/>
              </a:rPr>
              <a:t>IMPLEMENTATION</a:t>
            </a:r>
          </a:p>
        </p:txBody>
      </p:sp>
      <p:sp>
        <p:nvSpPr>
          <p:cNvPr id="7" name="TextBox 6"/>
          <p:cNvSpPr txBox="1"/>
          <p:nvPr/>
        </p:nvSpPr>
        <p:spPr>
          <a:xfrm>
            <a:off x="6675120" y="1600200"/>
            <a:ext cx="5029200" cy="1280160"/>
          </a:xfrm>
          <a:prstGeom prst="rect">
            <a:avLst/>
          </a:prstGeom>
          <a:noFill/>
        </p:spPr>
        <p:txBody>
          <a:bodyPr wrap="square" anchor="t">
            <a:spAutoFit/>
          </a:bodyPr>
          <a:lstStyle/>
          <a:p>
            <a:pPr algn="l">
              <a:lnSpc>
                <a:spcPct val="115000"/>
              </a:lnSpc>
            </a:pPr>
            <a:r>
              <a:rPr sz="1350" b="0" i="0">
                <a:solidFill>
                  <a:srgbClr val="1A1A1A"/>
                </a:solidFill>
                <a:latin typeface="Calibri"/>
              </a:rPr>
              <a:t>IonModal is wrapped once in src/components/common/Modal.tsx and reused as a shared Modal / ConfirmDialog component across the app.</a:t>
            </a:r>
          </a:p>
        </p:txBody>
      </p:sp>
      <p:sp>
        <p:nvSpPr>
          <p:cNvPr id="8" name="TextBox 7"/>
          <p:cNvSpPr txBox="1"/>
          <p:nvPr/>
        </p:nvSpPr>
        <p:spPr>
          <a:xfrm>
            <a:off x="6675120" y="3017520"/>
            <a:ext cx="5029200" cy="320040"/>
          </a:xfrm>
          <a:prstGeom prst="rect">
            <a:avLst/>
          </a:prstGeom>
          <a:noFill/>
        </p:spPr>
        <p:txBody>
          <a:bodyPr wrap="square" anchor="t">
            <a:spAutoFit/>
          </a:bodyPr>
          <a:lstStyle/>
          <a:p>
            <a:pPr algn="l">
              <a:lnSpc>
                <a:spcPct val="100000"/>
              </a:lnSpc>
            </a:pPr>
            <a:r>
              <a:rPr sz="1300" b="1" i="0">
                <a:solidFill>
                  <a:srgbClr val="1B5E3F"/>
                </a:solidFill>
                <a:latin typeface="Calibri"/>
              </a:rPr>
              <a:t>PURPOSE</a:t>
            </a:r>
          </a:p>
        </p:txBody>
      </p:sp>
      <p:sp>
        <p:nvSpPr>
          <p:cNvPr id="9" name="TextBox 8"/>
          <p:cNvSpPr txBox="1"/>
          <p:nvPr/>
        </p:nvSpPr>
        <p:spPr>
          <a:xfrm>
            <a:off x="6675120" y="3383280"/>
            <a:ext cx="5029200" cy="795089"/>
          </a:xfrm>
          <a:prstGeom prst="rect">
            <a:avLst/>
          </a:prstGeom>
          <a:noFill/>
        </p:spPr>
        <p:txBody>
          <a:bodyPr wrap="square" anchor="t">
            <a:spAutoFit/>
          </a:bodyPr>
          <a:lstStyle/>
          <a:p>
            <a:pPr algn="l">
              <a:lnSpc>
                <a:spcPct val="115000"/>
              </a:lnSpc>
            </a:pPr>
            <a:r>
              <a:rPr sz="1350" b="0" i="0" dirty="0">
                <a:solidFill>
                  <a:srgbClr val="1A1A1A"/>
                </a:solidFill>
                <a:latin typeface="Calibri"/>
              </a:rPr>
              <a:t>Provide a consistent, native-feeling dialog for every add/edit/confirm action </a:t>
            </a:r>
            <a:r>
              <a:rPr lang="en-PH" sz="1350" b="0" i="0" dirty="0">
                <a:solidFill>
                  <a:srgbClr val="1A1A1A"/>
                </a:solidFill>
                <a:latin typeface="Calibri"/>
              </a:rPr>
              <a:t>-</a:t>
            </a:r>
            <a:r>
              <a:rPr sz="1350" b="0" i="0" dirty="0">
                <a:solidFill>
                  <a:srgbClr val="1A1A1A"/>
                </a:solidFill>
                <a:latin typeface="Calibri"/>
              </a:rPr>
              <a:t> recording a sale, adding a product, confirming a logout </a:t>
            </a:r>
            <a:r>
              <a:rPr lang="en-PH" sz="1350" b="0" i="0" dirty="0">
                <a:solidFill>
                  <a:srgbClr val="1A1A1A"/>
                </a:solidFill>
                <a:latin typeface="Calibri"/>
              </a:rPr>
              <a:t>-</a:t>
            </a:r>
            <a:r>
              <a:rPr sz="1350" b="0" i="0" dirty="0">
                <a:solidFill>
                  <a:srgbClr val="1A1A1A"/>
                </a:solidFill>
                <a:latin typeface="Calibri"/>
              </a:rPr>
              <a:t> without rebuilding dialog behavior per page.</a:t>
            </a:r>
          </a:p>
        </p:txBody>
      </p:sp>
      <p:sp>
        <p:nvSpPr>
          <p:cNvPr id="10" name="TextBox 9"/>
          <p:cNvSpPr txBox="1"/>
          <p:nvPr/>
        </p:nvSpPr>
        <p:spPr>
          <a:xfrm>
            <a:off x="6675120" y="4800600"/>
            <a:ext cx="5029200" cy="320040"/>
          </a:xfrm>
          <a:prstGeom prst="rect">
            <a:avLst/>
          </a:prstGeom>
          <a:noFill/>
        </p:spPr>
        <p:txBody>
          <a:bodyPr wrap="square" anchor="t">
            <a:spAutoFit/>
          </a:bodyPr>
          <a:lstStyle/>
          <a:p>
            <a:pPr algn="l">
              <a:lnSpc>
                <a:spcPct val="100000"/>
              </a:lnSpc>
            </a:pPr>
            <a:r>
              <a:rPr sz="1300" b="1" i="0">
                <a:solidFill>
                  <a:srgbClr val="1B5E3F"/>
                </a:solidFill>
                <a:latin typeface="Calibri"/>
              </a:rPr>
              <a:t>RESULT</a:t>
            </a:r>
          </a:p>
        </p:txBody>
      </p:sp>
      <p:sp>
        <p:nvSpPr>
          <p:cNvPr id="11" name="TextBox 10"/>
          <p:cNvSpPr txBox="1"/>
          <p:nvPr/>
        </p:nvSpPr>
        <p:spPr>
          <a:xfrm>
            <a:off x="6675120" y="5166360"/>
            <a:ext cx="5029200" cy="1280160"/>
          </a:xfrm>
          <a:prstGeom prst="rect">
            <a:avLst/>
          </a:prstGeom>
          <a:noFill/>
        </p:spPr>
        <p:txBody>
          <a:bodyPr wrap="square" anchor="t">
            <a:spAutoFit/>
          </a:bodyPr>
          <a:lstStyle/>
          <a:p>
            <a:pPr algn="l">
              <a:lnSpc>
                <a:spcPct val="115000"/>
              </a:lnSpc>
            </a:pPr>
            <a:r>
              <a:rPr sz="1350" b="0" i="0">
                <a:solidFill>
                  <a:srgbClr val="1A1A1A"/>
                </a:solidFill>
                <a:latin typeface="Calibri"/>
              </a:rPr>
              <a:t>Used for add/edit dialogs on Inventory, Sales, Purchases, Suppliers, Expenses, Waste, Profile and Settings, plus confirmation dialogs like the Logout screen shown earlier.</a:t>
            </a:r>
          </a:p>
        </p:txBody>
      </p:sp>
      <p:sp>
        <p:nvSpPr>
          <p:cNvPr id="12" name="TextBox 11"/>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Ionic Implementation</a:t>
            </a:r>
          </a:p>
        </p:txBody>
      </p:sp>
      <p:sp>
        <p:nvSpPr>
          <p:cNvPr id="13" name="TextBox 12"/>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24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9144000" cy="548640"/>
          </a:xfrm>
          <a:prstGeom prst="rect">
            <a:avLst/>
          </a:prstGeom>
          <a:noFill/>
        </p:spPr>
        <p:txBody>
          <a:bodyPr wrap="square" anchor="t">
            <a:spAutoFit/>
          </a:bodyPr>
          <a:lstStyle/>
          <a:p>
            <a:pPr algn="l">
              <a:lnSpc>
                <a:spcPct val="100000"/>
              </a:lnSpc>
            </a:pPr>
            <a:r>
              <a:rPr sz="2600" b="1" i="0">
                <a:solidFill>
                  <a:srgbClr val="FFFFFF"/>
                </a:solidFill>
                <a:latin typeface="Calibri"/>
              </a:rPr>
              <a:t>Icons (IonIcon + ionicons)</a:t>
            </a:r>
          </a:p>
        </p:txBody>
      </p:sp>
      <p:pic>
        <p:nvPicPr>
          <p:cNvPr id="4" name="Picture 3" descr="14_alerts.jpg"/>
          <p:cNvPicPr>
            <a:picLocks noChangeAspect="1"/>
          </p:cNvPicPr>
          <p:nvPr/>
        </p:nvPicPr>
        <p:blipFill>
          <a:blip r:embed="rId2"/>
          <a:stretch>
            <a:fillRect/>
          </a:stretch>
        </p:blipFill>
        <p:spPr>
          <a:xfrm>
            <a:off x="457200" y="2043754"/>
            <a:ext cx="5943600" cy="3611879"/>
          </a:xfrm>
          <a:prstGeom prst="rect">
            <a:avLst/>
          </a:prstGeom>
        </p:spPr>
      </p:pic>
      <p:sp>
        <p:nvSpPr>
          <p:cNvPr id="5" name="Rectangle 4"/>
          <p:cNvSpPr/>
          <p:nvPr/>
        </p:nvSpPr>
        <p:spPr>
          <a:xfrm>
            <a:off x="457200" y="1188720"/>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75120" y="1234440"/>
            <a:ext cx="5029200" cy="320040"/>
          </a:xfrm>
          <a:prstGeom prst="rect">
            <a:avLst/>
          </a:prstGeom>
          <a:noFill/>
        </p:spPr>
        <p:txBody>
          <a:bodyPr wrap="square" anchor="t">
            <a:spAutoFit/>
          </a:bodyPr>
          <a:lstStyle/>
          <a:p>
            <a:pPr algn="l">
              <a:lnSpc>
                <a:spcPct val="100000"/>
              </a:lnSpc>
            </a:pPr>
            <a:r>
              <a:rPr sz="1300" b="1" i="0">
                <a:solidFill>
                  <a:srgbClr val="1B5E3F"/>
                </a:solidFill>
                <a:latin typeface="Calibri"/>
              </a:rPr>
              <a:t>IMPLEMENTATION</a:t>
            </a:r>
          </a:p>
        </p:txBody>
      </p:sp>
      <p:sp>
        <p:nvSpPr>
          <p:cNvPr id="7" name="TextBox 6"/>
          <p:cNvSpPr txBox="1"/>
          <p:nvPr/>
        </p:nvSpPr>
        <p:spPr>
          <a:xfrm>
            <a:off x="6675120" y="1600200"/>
            <a:ext cx="5029200" cy="1280160"/>
          </a:xfrm>
          <a:prstGeom prst="rect">
            <a:avLst/>
          </a:prstGeom>
          <a:noFill/>
        </p:spPr>
        <p:txBody>
          <a:bodyPr wrap="square" anchor="t">
            <a:spAutoFit/>
          </a:bodyPr>
          <a:lstStyle/>
          <a:p>
            <a:pPr algn="l">
              <a:lnSpc>
                <a:spcPct val="115000"/>
              </a:lnSpc>
            </a:pPr>
            <a:r>
              <a:rPr sz="1350" b="0" i="0">
                <a:solidFill>
                  <a:srgbClr val="1A1A1A"/>
                </a:solidFill>
                <a:latin typeface="Calibri"/>
              </a:rPr>
              <a:t>IonIcon renders the ionicons icon set and is used in roughly two dozen files: navigation items, buttons, form field errors, empty/error states, and toast notifications.</a:t>
            </a:r>
          </a:p>
        </p:txBody>
      </p:sp>
      <p:sp>
        <p:nvSpPr>
          <p:cNvPr id="8" name="TextBox 7"/>
          <p:cNvSpPr txBox="1"/>
          <p:nvPr/>
        </p:nvSpPr>
        <p:spPr>
          <a:xfrm>
            <a:off x="6675120" y="3017520"/>
            <a:ext cx="5029200" cy="320040"/>
          </a:xfrm>
          <a:prstGeom prst="rect">
            <a:avLst/>
          </a:prstGeom>
          <a:noFill/>
        </p:spPr>
        <p:txBody>
          <a:bodyPr wrap="square" anchor="t">
            <a:spAutoFit/>
          </a:bodyPr>
          <a:lstStyle/>
          <a:p>
            <a:pPr algn="l">
              <a:lnSpc>
                <a:spcPct val="100000"/>
              </a:lnSpc>
            </a:pPr>
            <a:r>
              <a:rPr sz="1300" b="1" i="0">
                <a:solidFill>
                  <a:srgbClr val="1B5E3F"/>
                </a:solidFill>
                <a:latin typeface="Calibri"/>
              </a:rPr>
              <a:t>PURPOSE</a:t>
            </a:r>
          </a:p>
        </p:txBody>
      </p:sp>
      <p:sp>
        <p:nvSpPr>
          <p:cNvPr id="9" name="TextBox 8"/>
          <p:cNvSpPr txBox="1"/>
          <p:nvPr/>
        </p:nvSpPr>
        <p:spPr>
          <a:xfrm>
            <a:off x="6675120" y="3383280"/>
            <a:ext cx="5029200" cy="1280160"/>
          </a:xfrm>
          <a:prstGeom prst="rect">
            <a:avLst/>
          </a:prstGeom>
          <a:noFill/>
        </p:spPr>
        <p:txBody>
          <a:bodyPr wrap="square" anchor="t">
            <a:spAutoFit/>
          </a:bodyPr>
          <a:lstStyle/>
          <a:p>
            <a:pPr algn="l">
              <a:lnSpc>
                <a:spcPct val="115000"/>
              </a:lnSpc>
            </a:pPr>
            <a:r>
              <a:rPr sz="1350" b="0" i="0">
                <a:solidFill>
                  <a:srgbClr val="1A1A1A"/>
                </a:solidFill>
                <a:latin typeface="Calibri"/>
              </a:rPr>
              <a:t>Keep iconography consistent and lightweight across the whole UI without shipping a separate icon library or custom SVGs for every screen.</a:t>
            </a:r>
          </a:p>
        </p:txBody>
      </p:sp>
      <p:sp>
        <p:nvSpPr>
          <p:cNvPr id="10" name="TextBox 9"/>
          <p:cNvSpPr txBox="1"/>
          <p:nvPr/>
        </p:nvSpPr>
        <p:spPr>
          <a:xfrm>
            <a:off x="6675120" y="4800600"/>
            <a:ext cx="5029200" cy="320040"/>
          </a:xfrm>
          <a:prstGeom prst="rect">
            <a:avLst/>
          </a:prstGeom>
          <a:noFill/>
        </p:spPr>
        <p:txBody>
          <a:bodyPr wrap="square" anchor="t">
            <a:spAutoFit/>
          </a:bodyPr>
          <a:lstStyle/>
          <a:p>
            <a:pPr algn="l">
              <a:lnSpc>
                <a:spcPct val="100000"/>
              </a:lnSpc>
            </a:pPr>
            <a:r>
              <a:rPr sz="1300" b="1" i="0">
                <a:solidFill>
                  <a:srgbClr val="1B5E3F"/>
                </a:solidFill>
                <a:latin typeface="Calibri"/>
              </a:rPr>
              <a:t>RESULT</a:t>
            </a:r>
          </a:p>
        </p:txBody>
      </p:sp>
      <p:sp>
        <p:nvSpPr>
          <p:cNvPr id="11" name="TextBox 10"/>
          <p:cNvSpPr txBox="1"/>
          <p:nvPr/>
        </p:nvSpPr>
        <p:spPr>
          <a:xfrm>
            <a:off x="6675120" y="5166360"/>
            <a:ext cx="5029200" cy="1280160"/>
          </a:xfrm>
          <a:prstGeom prst="rect">
            <a:avLst/>
          </a:prstGeom>
          <a:noFill/>
        </p:spPr>
        <p:txBody>
          <a:bodyPr wrap="square" anchor="t">
            <a:spAutoFit/>
          </a:bodyPr>
          <a:lstStyle/>
          <a:p>
            <a:pPr algn="l">
              <a:lnSpc>
                <a:spcPct val="115000"/>
              </a:lnSpc>
            </a:pPr>
            <a:r>
              <a:rPr sz="1350" b="0" i="0">
                <a:solidFill>
                  <a:srgbClr val="1A1A1A"/>
                </a:solidFill>
                <a:latin typeface="Calibri"/>
              </a:rPr>
              <a:t>Every nav item, alert severity badge, and status indicator across the app (as seen throughout the UI flow) uses the same ionicons set for visual consistency.</a:t>
            </a:r>
          </a:p>
        </p:txBody>
      </p:sp>
      <p:sp>
        <p:nvSpPr>
          <p:cNvPr id="12" name="TextBox 11"/>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Ionic Implementation</a:t>
            </a:r>
          </a:p>
        </p:txBody>
      </p:sp>
      <p:sp>
        <p:nvSpPr>
          <p:cNvPr id="13" name="TextBox 12"/>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25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9144000" cy="548640"/>
          </a:xfrm>
          <a:prstGeom prst="rect">
            <a:avLst/>
          </a:prstGeom>
          <a:noFill/>
        </p:spPr>
        <p:txBody>
          <a:bodyPr wrap="square" anchor="t">
            <a:spAutoFit/>
          </a:bodyPr>
          <a:lstStyle/>
          <a:p>
            <a:pPr algn="l">
              <a:lnSpc>
                <a:spcPct val="100000"/>
              </a:lnSpc>
            </a:pPr>
            <a:r>
              <a:rPr sz="2600" b="1" i="0">
                <a:solidFill>
                  <a:srgbClr val="FFFFFF"/>
                </a:solidFill>
                <a:latin typeface="Calibri"/>
              </a:rPr>
              <a:t>Responsive App Shell</a:t>
            </a:r>
          </a:p>
        </p:txBody>
      </p:sp>
      <p:pic>
        <p:nvPicPr>
          <p:cNvPr id="4" name="Picture 3" descr="03_dashboard.jpg"/>
          <p:cNvPicPr>
            <a:picLocks noChangeAspect="1"/>
          </p:cNvPicPr>
          <p:nvPr/>
        </p:nvPicPr>
        <p:blipFill>
          <a:blip r:embed="rId2"/>
          <a:stretch>
            <a:fillRect/>
          </a:stretch>
        </p:blipFill>
        <p:spPr>
          <a:xfrm>
            <a:off x="457200" y="2423160"/>
            <a:ext cx="5943600" cy="3054131"/>
          </a:xfrm>
          <a:prstGeom prst="rect">
            <a:avLst/>
          </a:prstGeom>
        </p:spPr>
      </p:pic>
      <p:sp>
        <p:nvSpPr>
          <p:cNvPr id="5" name="Rectangle 4"/>
          <p:cNvSpPr/>
          <p:nvPr/>
        </p:nvSpPr>
        <p:spPr>
          <a:xfrm>
            <a:off x="457200" y="1188720"/>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75120" y="1234440"/>
            <a:ext cx="5029200" cy="320040"/>
          </a:xfrm>
          <a:prstGeom prst="rect">
            <a:avLst/>
          </a:prstGeom>
          <a:noFill/>
        </p:spPr>
        <p:txBody>
          <a:bodyPr wrap="square" anchor="t">
            <a:spAutoFit/>
          </a:bodyPr>
          <a:lstStyle/>
          <a:p>
            <a:pPr algn="l">
              <a:lnSpc>
                <a:spcPct val="100000"/>
              </a:lnSpc>
            </a:pPr>
            <a:r>
              <a:rPr sz="1300" b="1" i="0">
                <a:solidFill>
                  <a:srgbClr val="1B5E3F"/>
                </a:solidFill>
                <a:latin typeface="Calibri"/>
              </a:rPr>
              <a:t>IMPLEMENTATION</a:t>
            </a:r>
          </a:p>
        </p:txBody>
      </p:sp>
      <p:sp>
        <p:nvSpPr>
          <p:cNvPr id="7" name="TextBox 6"/>
          <p:cNvSpPr txBox="1"/>
          <p:nvPr/>
        </p:nvSpPr>
        <p:spPr>
          <a:xfrm>
            <a:off x="6675120" y="1600200"/>
            <a:ext cx="5029200" cy="1280160"/>
          </a:xfrm>
          <a:prstGeom prst="rect">
            <a:avLst/>
          </a:prstGeom>
          <a:noFill/>
        </p:spPr>
        <p:txBody>
          <a:bodyPr wrap="square" anchor="t">
            <a:spAutoFit/>
          </a:bodyPr>
          <a:lstStyle/>
          <a:p>
            <a:pPr algn="l">
              <a:lnSpc>
                <a:spcPct val="115000"/>
              </a:lnSpc>
            </a:pPr>
            <a:r>
              <a:rPr sz="1350" b="0" i="0">
                <a:solidFill>
                  <a:srgbClr val="1A1A1A"/>
                </a:solidFill>
                <a:latin typeface="Calibri"/>
              </a:rPr>
              <a:t>A custom AppShell (src/components/layout/AppShell.tsx) switches between a bottom tab bar (mobile), a collapsed icon rail (tablet), and a full sidebar (desktop) using a useBreakpoint hook, while the app's design tokens are bridged into Ionic's own CSS variables (--ion-color-primary, etc.).</a:t>
            </a:r>
          </a:p>
        </p:txBody>
      </p:sp>
      <p:sp>
        <p:nvSpPr>
          <p:cNvPr id="8" name="TextBox 7"/>
          <p:cNvSpPr txBox="1"/>
          <p:nvPr/>
        </p:nvSpPr>
        <p:spPr>
          <a:xfrm>
            <a:off x="6675120" y="3017520"/>
            <a:ext cx="5029200" cy="320040"/>
          </a:xfrm>
          <a:prstGeom prst="rect">
            <a:avLst/>
          </a:prstGeom>
          <a:noFill/>
        </p:spPr>
        <p:txBody>
          <a:bodyPr wrap="square" anchor="t">
            <a:spAutoFit/>
          </a:bodyPr>
          <a:lstStyle/>
          <a:p>
            <a:pPr algn="l">
              <a:lnSpc>
                <a:spcPct val="100000"/>
              </a:lnSpc>
            </a:pPr>
            <a:r>
              <a:rPr sz="1300" b="1" i="0">
                <a:solidFill>
                  <a:srgbClr val="1B5E3F"/>
                </a:solidFill>
                <a:latin typeface="Calibri"/>
              </a:rPr>
              <a:t>PURPOSE</a:t>
            </a:r>
          </a:p>
        </p:txBody>
      </p:sp>
      <p:sp>
        <p:nvSpPr>
          <p:cNvPr id="9" name="TextBox 8"/>
          <p:cNvSpPr txBox="1"/>
          <p:nvPr/>
        </p:nvSpPr>
        <p:spPr>
          <a:xfrm>
            <a:off x="6675120" y="3383280"/>
            <a:ext cx="5029200" cy="1280160"/>
          </a:xfrm>
          <a:prstGeom prst="rect">
            <a:avLst/>
          </a:prstGeom>
          <a:noFill/>
        </p:spPr>
        <p:txBody>
          <a:bodyPr wrap="square" anchor="t">
            <a:spAutoFit/>
          </a:bodyPr>
          <a:lstStyle/>
          <a:p>
            <a:pPr algn="l">
              <a:lnSpc>
                <a:spcPct val="115000"/>
              </a:lnSpc>
            </a:pPr>
            <a:r>
              <a:rPr sz="1350" b="0" i="0">
                <a:solidFill>
                  <a:srgbClr val="1A1A1A"/>
                </a:solidFill>
                <a:latin typeface="Calibri"/>
              </a:rPr>
              <a:t>Deliver one codebase that adapts cleanly from a phone-sized screen up to a desktop browser, while keeping Ionic's own UI primitives (like IonModal) visually on-brand.</a:t>
            </a:r>
          </a:p>
        </p:txBody>
      </p:sp>
      <p:sp>
        <p:nvSpPr>
          <p:cNvPr id="10" name="TextBox 9"/>
          <p:cNvSpPr txBox="1"/>
          <p:nvPr/>
        </p:nvSpPr>
        <p:spPr>
          <a:xfrm>
            <a:off x="6675120" y="4800600"/>
            <a:ext cx="5029200" cy="320040"/>
          </a:xfrm>
          <a:prstGeom prst="rect">
            <a:avLst/>
          </a:prstGeom>
          <a:noFill/>
        </p:spPr>
        <p:txBody>
          <a:bodyPr wrap="square" anchor="t">
            <a:spAutoFit/>
          </a:bodyPr>
          <a:lstStyle/>
          <a:p>
            <a:pPr algn="l">
              <a:lnSpc>
                <a:spcPct val="100000"/>
              </a:lnSpc>
            </a:pPr>
            <a:r>
              <a:rPr sz="1300" b="1" i="0">
                <a:solidFill>
                  <a:srgbClr val="1B5E3F"/>
                </a:solidFill>
                <a:latin typeface="Calibri"/>
              </a:rPr>
              <a:t>RESULT</a:t>
            </a:r>
          </a:p>
        </p:txBody>
      </p:sp>
      <p:sp>
        <p:nvSpPr>
          <p:cNvPr id="11" name="TextBox 10"/>
          <p:cNvSpPr txBox="1"/>
          <p:nvPr/>
        </p:nvSpPr>
        <p:spPr>
          <a:xfrm>
            <a:off x="6675120" y="5166360"/>
            <a:ext cx="5029200" cy="1280160"/>
          </a:xfrm>
          <a:prstGeom prst="rect">
            <a:avLst/>
          </a:prstGeom>
          <a:noFill/>
        </p:spPr>
        <p:txBody>
          <a:bodyPr wrap="square" anchor="t">
            <a:spAutoFit/>
          </a:bodyPr>
          <a:lstStyle/>
          <a:p>
            <a:pPr algn="l">
              <a:lnSpc>
                <a:spcPct val="115000"/>
              </a:lnSpc>
            </a:pPr>
            <a:r>
              <a:rPr sz="1350" b="0" i="0">
                <a:solidFill>
                  <a:srgbClr val="1A1A1A"/>
                </a:solidFill>
                <a:latin typeface="Calibri"/>
              </a:rPr>
              <a:t>The sidebar navigation seen throughout this deck's screenshots (Business / Intelligence / Account groups) is this shell's desktop layout; the same routes render a bottom nav bar on narrow screens.</a:t>
            </a:r>
          </a:p>
        </p:txBody>
      </p:sp>
      <p:sp>
        <p:nvSpPr>
          <p:cNvPr id="12" name="TextBox 11"/>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Ionic Implementation</a:t>
            </a:r>
          </a:p>
        </p:txBody>
      </p:sp>
      <p:sp>
        <p:nvSpPr>
          <p:cNvPr id="13" name="TextBox 12"/>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26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9144000" cy="548640"/>
          </a:xfrm>
          <a:prstGeom prst="rect">
            <a:avLst/>
          </a:prstGeom>
          <a:noFill/>
        </p:spPr>
        <p:txBody>
          <a:bodyPr wrap="square" anchor="t">
            <a:spAutoFit/>
          </a:bodyPr>
          <a:lstStyle/>
          <a:p>
            <a:pPr algn="l">
              <a:lnSpc>
                <a:spcPct val="100000"/>
              </a:lnSpc>
            </a:pPr>
            <a:r>
              <a:rPr sz="2600" b="1" i="0">
                <a:solidFill>
                  <a:srgbClr val="FFFFFF"/>
                </a:solidFill>
                <a:latin typeface="Calibri"/>
              </a:rPr>
              <a:t>Native Packaging (Capacitor)</a:t>
            </a:r>
          </a:p>
        </p:txBody>
      </p:sp>
      <p:pic>
        <p:nvPicPr>
          <p:cNvPr id="4" name="Picture 3" descr="01_login.jpg"/>
          <p:cNvPicPr>
            <a:picLocks noChangeAspect="1"/>
          </p:cNvPicPr>
          <p:nvPr/>
        </p:nvPicPr>
        <p:blipFill>
          <a:blip r:embed="rId2"/>
          <a:stretch>
            <a:fillRect/>
          </a:stretch>
        </p:blipFill>
        <p:spPr>
          <a:xfrm>
            <a:off x="457200" y="2395728"/>
            <a:ext cx="5943600" cy="3044952"/>
          </a:xfrm>
          <a:prstGeom prst="rect">
            <a:avLst/>
          </a:prstGeom>
        </p:spPr>
      </p:pic>
      <p:sp>
        <p:nvSpPr>
          <p:cNvPr id="5" name="Rectangle 4"/>
          <p:cNvSpPr/>
          <p:nvPr/>
        </p:nvSpPr>
        <p:spPr>
          <a:xfrm>
            <a:off x="457200" y="1188720"/>
            <a:ext cx="5943600" cy="2660974"/>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75120" y="1234440"/>
            <a:ext cx="5029200" cy="320040"/>
          </a:xfrm>
          <a:prstGeom prst="rect">
            <a:avLst/>
          </a:prstGeom>
          <a:noFill/>
        </p:spPr>
        <p:txBody>
          <a:bodyPr wrap="square" anchor="t">
            <a:spAutoFit/>
          </a:bodyPr>
          <a:lstStyle/>
          <a:p>
            <a:pPr algn="l">
              <a:lnSpc>
                <a:spcPct val="100000"/>
              </a:lnSpc>
            </a:pPr>
            <a:r>
              <a:rPr sz="1300" b="1" i="0">
                <a:solidFill>
                  <a:srgbClr val="1B5E3F"/>
                </a:solidFill>
                <a:latin typeface="Calibri"/>
              </a:rPr>
              <a:t>IMPLEMENTATION</a:t>
            </a:r>
          </a:p>
        </p:txBody>
      </p:sp>
      <p:sp>
        <p:nvSpPr>
          <p:cNvPr id="7" name="TextBox 6"/>
          <p:cNvSpPr txBox="1"/>
          <p:nvPr/>
        </p:nvSpPr>
        <p:spPr>
          <a:xfrm>
            <a:off x="6675120" y="1600200"/>
            <a:ext cx="5029200" cy="1280160"/>
          </a:xfrm>
          <a:prstGeom prst="rect">
            <a:avLst/>
          </a:prstGeom>
          <a:noFill/>
        </p:spPr>
        <p:txBody>
          <a:bodyPr wrap="square" anchor="t">
            <a:spAutoFit/>
          </a:bodyPr>
          <a:lstStyle/>
          <a:p>
            <a:pPr algn="l">
              <a:lnSpc>
                <a:spcPct val="115000"/>
              </a:lnSpc>
            </a:pPr>
            <a:r>
              <a:rPr sz="1350" b="0" i="0" dirty="0" err="1">
                <a:solidFill>
                  <a:srgbClr val="1A1A1A"/>
                </a:solidFill>
                <a:latin typeface="Calibri"/>
              </a:rPr>
              <a:t>capacitor.config.ts</a:t>
            </a:r>
            <a:r>
              <a:rPr sz="1350" b="0" i="0" dirty="0">
                <a:solidFill>
                  <a:srgbClr val="1A1A1A"/>
                </a:solidFill>
                <a:latin typeface="Calibri"/>
              </a:rPr>
              <a:t> (</a:t>
            </a:r>
            <a:r>
              <a:rPr sz="1350" b="0" i="0" dirty="0" err="1">
                <a:solidFill>
                  <a:srgbClr val="1A1A1A"/>
                </a:solidFill>
                <a:latin typeface="Calibri"/>
              </a:rPr>
              <a:t>appId</a:t>
            </a:r>
            <a:r>
              <a:rPr sz="1350" b="0" i="0" dirty="0">
                <a:solidFill>
                  <a:srgbClr val="1A1A1A"/>
                </a:solidFill>
                <a:latin typeface="Calibri"/>
              </a:rPr>
              <a:t> </a:t>
            </a:r>
            <a:r>
              <a:rPr sz="1350" b="0" i="0" dirty="0" err="1">
                <a:solidFill>
                  <a:srgbClr val="1A1A1A"/>
                </a:solidFill>
                <a:latin typeface="Calibri"/>
              </a:rPr>
              <a:t>ph.bantayledger.app</a:t>
            </a:r>
            <a:r>
              <a:rPr sz="1350" b="0" i="0" dirty="0">
                <a:solidFill>
                  <a:srgbClr val="1A1A1A"/>
                </a:solidFill>
                <a:latin typeface="Calibri"/>
              </a:rPr>
              <a:t>) plus full native android/ and </a:t>
            </a:r>
            <a:r>
              <a:rPr sz="1350" b="0" i="0" dirty="0" err="1">
                <a:solidFill>
                  <a:srgbClr val="1A1A1A"/>
                </a:solidFill>
                <a:latin typeface="Calibri"/>
              </a:rPr>
              <a:t>ios</a:t>
            </a:r>
            <a:r>
              <a:rPr sz="1350" b="0" i="0" dirty="0">
                <a:solidFill>
                  <a:srgbClr val="1A1A1A"/>
                </a:solidFill>
                <a:latin typeface="Calibri"/>
              </a:rPr>
              <a:t>/ projects, backed by @capacitor/android, @capacitor/ios, and @capacitor-community/sqlite for on-device storage.</a:t>
            </a:r>
          </a:p>
        </p:txBody>
      </p:sp>
      <p:sp>
        <p:nvSpPr>
          <p:cNvPr id="8" name="TextBox 7"/>
          <p:cNvSpPr txBox="1"/>
          <p:nvPr/>
        </p:nvSpPr>
        <p:spPr>
          <a:xfrm>
            <a:off x="6675120" y="3017520"/>
            <a:ext cx="5029200" cy="320040"/>
          </a:xfrm>
          <a:prstGeom prst="rect">
            <a:avLst/>
          </a:prstGeom>
          <a:noFill/>
        </p:spPr>
        <p:txBody>
          <a:bodyPr wrap="square" anchor="t">
            <a:spAutoFit/>
          </a:bodyPr>
          <a:lstStyle/>
          <a:p>
            <a:pPr algn="l">
              <a:lnSpc>
                <a:spcPct val="100000"/>
              </a:lnSpc>
            </a:pPr>
            <a:r>
              <a:rPr sz="1300" b="1" i="0">
                <a:solidFill>
                  <a:srgbClr val="1B5E3F"/>
                </a:solidFill>
                <a:latin typeface="Calibri"/>
              </a:rPr>
              <a:t>PURPOSE</a:t>
            </a:r>
          </a:p>
        </p:txBody>
      </p:sp>
      <p:sp>
        <p:nvSpPr>
          <p:cNvPr id="9" name="TextBox 8"/>
          <p:cNvSpPr txBox="1"/>
          <p:nvPr/>
        </p:nvSpPr>
        <p:spPr>
          <a:xfrm>
            <a:off x="6675120" y="3383280"/>
            <a:ext cx="5029200" cy="795089"/>
          </a:xfrm>
          <a:prstGeom prst="rect">
            <a:avLst/>
          </a:prstGeom>
          <a:noFill/>
        </p:spPr>
        <p:txBody>
          <a:bodyPr wrap="square" anchor="t">
            <a:spAutoFit/>
          </a:bodyPr>
          <a:lstStyle/>
          <a:p>
            <a:pPr algn="l">
              <a:lnSpc>
                <a:spcPct val="115000"/>
              </a:lnSpc>
            </a:pPr>
            <a:r>
              <a:rPr sz="1350" b="0" i="0" dirty="0">
                <a:solidFill>
                  <a:srgbClr val="1A1A1A"/>
                </a:solidFill>
                <a:latin typeface="Calibri"/>
              </a:rPr>
              <a:t>Ship the same Ionic/React web app as an installable Android and iOS app that also works fully offline via on-device SQLite </a:t>
            </a:r>
            <a:r>
              <a:rPr lang="en-PH" sz="1350" b="0" i="0" dirty="0">
                <a:solidFill>
                  <a:srgbClr val="1A1A1A"/>
                </a:solidFill>
                <a:latin typeface="Calibri"/>
              </a:rPr>
              <a:t>-</a:t>
            </a:r>
            <a:r>
              <a:rPr sz="1350" b="0" i="0" dirty="0">
                <a:solidFill>
                  <a:srgbClr val="1A1A1A"/>
                </a:solidFill>
                <a:latin typeface="Calibri"/>
              </a:rPr>
              <a:t> essential for small store owners without reliable connectivity.</a:t>
            </a:r>
          </a:p>
        </p:txBody>
      </p:sp>
      <p:sp>
        <p:nvSpPr>
          <p:cNvPr id="10" name="TextBox 9"/>
          <p:cNvSpPr txBox="1"/>
          <p:nvPr/>
        </p:nvSpPr>
        <p:spPr>
          <a:xfrm>
            <a:off x="6675120" y="4800600"/>
            <a:ext cx="5029200" cy="320040"/>
          </a:xfrm>
          <a:prstGeom prst="rect">
            <a:avLst/>
          </a:prstGeom>
          <a:noFill/>
        </p:spPr>
        <p:txBody>
          <a:bodyPr wrap="square" anchor="t">
            <a:spAutoFit/>
          </a:bodyPr>
          <a:lstStyle/>
          <a:p>
            <a:pPr algn="l">
              <a:lnSpc>
                <a:spcPct val="100000"/>
              </a:lnSpc>
            </a:pPr>
            <a:r>
              <a:rPr sz="1300" b="1" i="0">
                <a:solidFill>
                  <a:srgbClr val="1B5E3F"/>
                </a:solidFill>
                <a:latin typeface="Calibri"/>
              </a:rPr>
              <a:t>RESULT</a:t>
            </a:r>
          </a:p>
        </p:txBody>
      </p:sp>
      <p:sp>
        <p:nvSpPr>
          <p:cNvPr id="11" name="TextBox 10"/>
          <p:cNvSpPr txBox="1"/>
          <p:nvPr/>
        </p:nvSpPr>
        <p:spPr>
          <a:xfrm>
            <a:off x="6675120" y="5166360"/>
            <a:ext cx="5029200" cy="1280160"/>
          </a:xfrm>
          <a:prstGeom prst="rect">
            <a:avLst/>
          </a:prstGeom>
          <a:noFill/>
        </p:spPr>
        <p:txBody>
          <a:bodyPr wrap="square" anchor="t">
            <a:spAutoFit/>
          </a:bodyPr>
          <a:lstStyle/>
          <a:p>
            <a:pPr algn="l">
              <a:lnSpc>
                <a:spcPct val="115000"/>
              </a:lnSpc>
            </a:pPr>
            <a:r>
              <a:rPr sz="1350" b="0" i="0">
                <a:solidFill>
                  <a:srgbClr val="1A1A1A"/>
                </a:solidFill>
                <a:latin typeface="Calibri"/>
              </a:rPr>
              <a:t>The web build in dist/ is synced into real Android Studio and Xcode projects (npm run cap:sync), ready to be built and installed as a native mobile app.</a:t>
            </a:r>
          </a:p>
        </p:txBody>
      </p:sp>
      <p:sp>
        <p:nvSpPr>
          <p:cNvPr id="12" name="TextBox 11"/>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Ionic Implementation</a:t>
            </a:r>
          </a:p>
        </p:txBody>
      </p:sp>
      <p:sp>
        <p:nvSpPr>
          <p:cNvPr id="13" name="TextBox 12"/>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27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B5E3F"/>
        </a:solidFill>
        <a:effectLst/>
      </p:bgPr>
    </p:bg>
    <p:spTree>
      <p:nvGrpSpPr>
        <p:cNvPr id="1" name=""/>
        <p:cNvGrpSpPr/>
        <p:nvPr/>
      </p:nvGrpSpPr>
      <p:grpSpPr>
        <a:xfrm>
          <a:off x="0" y="0"/>
          <a:ext cx="0" cy="0"/>
          <a:chOff x="0" y="0"/>
          <a:chExt cx="0" cy="0"/>
        </a:xfrm>
      </p:grpSpPr>
      <p:sp>
        <p:nvSpPr>
          <p:cNvPr id="2" name="Rectangle 1"/>
          <p:cNvSpPr/>
          <p:nvPr/>
        </p:nvSpPr>
        <p:spPr>
          <a:xfrm>
            <a:off x="0" y="3017520"/>
            <a:ext cx="12191695" cy="36576"/>
          </a:xfrm>
          <a:prstGeom prst="rect">
            <a:avLst/>
          </a:prstGeom>
          <a:solidFill>
            <a:srgbClr val="5FB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377440"/>
            <a:ext cx="10332720" cy="914400"/>
          </a:xfrm>
          <a:prstGeom prst="rect">
            <a:avLst/>
          </a:prstGeom>
          <a:noFill/>
        </p:spPr>
        <p:txBody>
          <a:bodyPr wrap="square" anchor="t">
            <a:spAutoFit/>
          </a:bodyPr>
          <a:lstStyle/>
          <a:p>
            <a:pPr algn="l">
              <a:lnSpc>
                <a:spcPct val="100000"/>
              </a:lnSpc>
            </a:pPr>
            <a:r>
              <a:rPr sz="4000" b="1" i="0">
                <a:solidFill>
                  <a:srgbClr val="FFFFFF"/>
                </a:solidFill>
                <a:latin typeface="Calibri"/>
              </a:rPr>
              <a:t>Artificial Intelligence Integration</a:t>
            </a:r>
          </a:p>
        </p:txBody>
      </p:sp>
      <p:sp>
        <p:nvSpPr>
          <p:cNvPr id="4" name="TextBox 3"/>
          <p:cNvSpPr txBox="1"/>
          <p:nvPr/>
        </p:nvSpPr>
        <p:spPr>
          <a:xfrm>
            <a:off x="914400" y="3246120"/>
            <a:ext cx="10332720" cy="731520"/>
          </a:xfrm>
          <a:prstGeom prst="rect">
            <a:avLst/>
          </a:prstGeom>
          <a:noFill/>
        </p:spPr>
        <p:txBody>
          <a:bodyPr wrap="square" anchor="t">
            <a:spAutoFit/>
          </a:bodyPr>
          <a:lstStyle/>
          <a:p>
            <a:pPr algn="l">
              <a:lnSpc>
                <a:spcPct val="100000"/>
              </a:lnSpc>
            </a:pPr>
            <a:r>
              <a:rPr sz="1600" b="0" i="0">
                <a:solidFill>
                  <a:srgbClr val="5FB48C"/>
                </a:solidFill>
                <a:latin typeface="Calibri"/>
              </a:rPr>
              <a:t>Where AI is used, what it does, and how it helps the user</a:t>
            </a:r>
          </a:p>
        </p:txBody>
      </p:sp>
      <p:sp>
        <p:nvSpPr>
          <p:cNvPr id="5" name="TextBox 4"/>
          <p:cNvSpPr txBox="1"/>
          <p:nvPr/>
        </p:nvSpPr>
        <p:spPr>
          <a:xfrm>
            <a:off x="457200" y="6537960"/>
            <a:ext cx="5486400" cy="246221"/>
          </a:xfrm>
          <a:prstGeom prst="rect">
            <a:avLst/>
          </a:prstGeom>
          <a:noFill/>
        </p:spPr>
        <p:txBody>
          <a:bodyPr wrap="square" anchor="t">
            <a:spAutoFit/>
          </a:bodyPr>
          <a:lstStyle/>
          <a:p>
            <a:pPr algn="l">
              <a:lnSpc>
                <a:spcPct val="100000"/>
              </a:lnSpc>
            </a:pPr>
            <a:r>
              <a:rPr sz="1000" b="0" i="0" dirty="0" err="1">
                <a:solidFill>
                  <a:srgbClr val="5B635E"/>
                </a:solidFill>
                <a:latin typeface="Calibri"/>
              </a:rPr>
              <a:t>Bantayledger</a:t>
            </a:r>
            <a:r>
              <a:rPr sz="1000" b="0" i="0" dirty="0">
                <a:solidFill>
                  <a:srgbClr val="5B635E"/>
                </a:solidFill>
                <a:latin typeface="Calibri"/>
              </a:rPr>
              <a:t> </a:t>
            </a:r>
            <a:r>
              <a:rPr lang="en-PH" sz="1000" b="0" i="0" dirty="0">
                <a:solidFill>
                  <a:srgbClr val="5B635E"/>
                </a:solidFill>
                <a:latin typeface="Calibri"/>
              </a:rPr>
              <a:t>-</a:t>
            </a:r>
            <a:r>
              <a:rPr sz="1000" b="0" i="0" dirty="0">
                <a:solidFill>
                  <a:srgbClr val="5B635E"/>
                </a:solidFill>
                <a:latin typeface="Calibri"/>
              </a:rPr>
              <a:t> </a:t>
            </a:r>
            <a:r>
              <a:rPr sz="1000" b="0" i="0" dirty="0" err="1">
                <a:solidFill>
                  <a:srgbClr val="5B635E"/>
                </a:solidFill>
                <a:latin typeface="Calibri"/>
              </a:rPr>
              <a:t>Technopreneurship</a:t>
            </a:r>
            <a:endParaRPr sz="1000" b="0" i="0" dirty="0">
              <a:solidFill>
                <a:srgbClr val="5B635E"/>
              </a:solidFill>
              <a:latin typeface="Calibri"/>
            </a:endParaRPr>
          </a:p>
        </p:txBody>
      </p:sp>
      <p:sp>
        <p:nvSpPr>
          <p:cNvPr id="6" name="TextBox 5"/>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28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0058400" cy="548640"/>
          </a:xfrm>
          <a:prstGeom prst="rect">
            <a:avLst/>
          </a:prstGeom>
          <a:noFill/>
        </p:spPr>
        <p:txBody>
          <a:bodyPr wrap="square" anchor="t">
            <a:spAutoFit/>
          </a:bodyPr>
          <a:lstStyle/>
          <a:p>
            <a:pPr algn="l">
              <a:lnSpc>
                <a:spcPct val="100000"/>
              </a:lnSpc>
            </a:pPr>
            <a:r>
              <a:rPr sz="2600" b="1" i="0">
                <a:solidFill>
                  <a:srgbClr val="FFFFFF"/>
                </a:solidFill>
                <a:latin typeface="Calibri"/>
              </a:rPr>
              <a:t>AI Feature: Alerts &amp; AI Insights</a:t>
            </a:r>
          </a:p>
        </p:txBody>
      </p:sp>
      <p:pic>
        <p:nvPicPr>
          <p:cNvPr id="4" name="Picture 3" descr="14_alerts.jpg"/>
          <p:cNvPicPr>
            <a:picLocks noChangeAspect="1"/>
          </p:cNvPicPr>
          <p:nvPr/>
        </p:nvPicPr>
        <p:blipFill>
          <a:blip r:embed="rId2"/>
          <a:stretch>
            <a:fillRect/>
          </a:stretch>
        </p:blipFill>
        <p:spPr>
          <a:xfrm>
            <a:off x="2744571" y="1109503"/>
            <a:ext cx="6702552" cy="3000760"/>
          </a:xfrm>
          <a:prstGeom prst="rect">
            <a:avLst/>
          </a:prstGeom>
          <a:ln>
            <a:solidFill>
              <a:schemeClr val="tx1"/>
            </a:solidFill>
          </a:ln>
        </p:spPr>
      </p:pic>
      <p:sp>
        <p:nvSpPr>
          <p:cNvPr id="6" name="TextBox 5"/>
          <p:cNvSpPr txBox="1"/>
          <p:nvPr/>
        </p:nvSpPr>
        <p:spPr>
          <a:xfrm>
            <a:off x="1316736" y="4370832"/>
            <a:ext cx="9427464" cy="1931298"/>
          </a:xfrm>
          <a:prstGeom prst="rect">
            <a:avLst/>
          </a:prstGeom>
          <a:noFill/>
        </p:spPr>
        <p:txBody>
          <a:bodyPr wrap="square">
            <a:spAutoFit/>
          </a:bodyPr>
          <a:lstStyle/>
          <a:p>
            <a:pPr>
              <a:spcAft>
                <a:spcPts val="1000"/>
              </a:spcAft>
            </a:pPr>
            <a:r>
              <a:rPr sz="1350" b="1" dirty="0">
                <a:solidFill>
                  <a:srgbClr val="1B5E3F"/>
                </a:solidFill>
                <a:latin typeface="Calibri"/>
              </a:rPr>
              <a:t>▸  Where it's used:  </a:t>
            </a:r>
            <a:r>
              <a:rPr sz="1350" b="0" dirty="0">
                <a:solidFill>
                  <a:srgbClr val="1A1A1A"/>
                </a:solidFill>
                <a:latin typeface="Calibri"/>
              </a:rPr>
              <a:t>The AI Alerts card on the Dashboard, the dedicated Alerts screen, the AI Insights page, and the Forecast page.</a:t>
            </a:r>
          </a:p>
          <a:p>
            <a:pPr>
              <a:spcAft>
                <a:spcPts val="1000"/>
              </a:spcAft>
            </a:pPr>
            <a:r>
              <a:rPr sz="1350" b="1" dirty="0">
                <a:solidFill>
                  <a:srgbClr val="1B5E3F"/>
                </a:solidFill>
                <a:latin typeface="Calibri"/>
              </a:rPr>
              <a:t>▸  What it does:  </a:t>
            </a:r>
            <a:r>
              <a:rPr sz="1350" b="0" dirty="0">
                <a:solidFill>
                  <a:srgbClr val="1A1A1A"/>
                </a:solidFill>
                <a:latin typeface="Calibri"/>
              </a:rPr>
              <a:t>Analyzes the business's own sales, stock, purchase and waste history to flag issues (e.g. “Cooking Oil is running low”, “Flour supplier price is increasing”) and, on Forecast/AI Insights, project demand, price and cost trends.</a:t>
            </a:r>
          </a:p>
          <a:p>
            <a:pPr>
              <a:spcAft>
                <a:spcPts val="1000"/>
              </a:spcAft>
            </a:pPr>
            <a:r>
              <a:rPr sz="1350" b="1" dirty="0">
                <a:solidFill>
                  <a:srgbClr val="1B5E3F"/>
                </a:solidFill>
                <a:latin typeface="Calibri"/>
              </a:rPr>
              <a:t>▸  Technology used:  </a:t>
            </a:r>
            <a:r>
              <a:rPr sz="1350" b="0" dirty="0">
                <a:solidFill>
                  <a:srgbClr val="1A1A1A"/>
                </a:solidFill>
                <a:latin typeface="Calibri"/>
              </a:rPr>
              <a:t>Client-side deterministic logic in </a:t>
            </a:r>
            <a:r>
              <a:rPr sz="1350" b="0" dirty="0" err="1">
                <a:solidFill>
                  <a:srgbClr val="1A1A1A"/>
                </a:solidFill>
                <a:latin typeface="Calibri"/>
              </a:rPr>
              <a:t>src</a:t>
            </a:r>
            <a:r>
              <a:rPr sz="1350" b="0" dirty="0">
                <a:solidFill>
                  <a:srgbClr val="1A1A1A"/>
                </a:solidFill>
                <a:latin typeface="Calibri"/>
              </a:rPr>
              <a:t>/services/local/</a:t>
            </a:r>
            <a:r>
              <a:rPr sz="1350" b="0" dirty="0" err="1">
                <a:solidFill>
                  <a:srgbClr val="1A1A1A"/>
                </a:solidFill>
                <a:latin typeface="Calibri"/>
              </a:rPr>
              <a:t>signalService.ts</a:t>
            </a:r>
            <a:r>
              <a:rPr sz="1350" b="0" dirty="0">
                <a:solidFill>
                  <a:srgbClr val="1A1A1A"/>
                </a:solidFill>
                <a:latin typeface="Calibri"/>
              </a:rPr>
              <a:t> </a:t>
            </a:r>
            <a:r>
              <a:rPr lang="en-PH" sz="1350" b="0" dirty="0">
                <a:solidFill>
                  <a:srgbClr val="1A1A1A"/>
                </a:solidFill>
                <a:latin typeface="Calibri"/>
              </a:rPr>
              <a:t>-</a:t>
            </a:r>
            <a:r>
              <a:rPr sz="1350" b="0" dirty="0">
                <a:solidFill>
                  <a:srgbClr val="1A1A1A"/>
                </a:solidFill>
                <a:latin typeface="Calibri"/>
              </a:rPr>
              <a:t> moving averages, trend deltas, and threshold rules. There is no external LLM/AI API call in the current codebase.</a:t>
            </a:r>
          </a:p>
          <a:p>
            <a:pPr>
              <a:spcAft>
                <a:spcPts val="1000"/>
              </a:spcAft>
            </a:pPr>
            <a:r>
              <a:rPr sz="1350" b="1" dirty="0">
                <a:solidFill>
                  <a:srgbClr val="1B5E3F"/>
                </a:solidFill>
                <a:latin typeface="Calibri"/>
              </a:rPr>
              <a:t>▸  How it communicates:  </a:t>
            </a:r>
            <a:r>
              <a:rPr sz="1350" b="0" dirty="0">
                <a:solidFill>
                  <a:srgbClr val="1A1A1A"/>
                </a:solidFill>
                <a:latin typeface="Calibri"/>
              </a:rPr>
              <a:t>Runs entirely in-app against the local dataset (no network call for the computation itself); in cloud mode it reads from </a:t>
            </a:r>
            <a:r>
              <a:rPr sz="1350" b="0" dirty="0" err="1">
                <a:solidFill>
                  <a:srgbClr val="1A1A1A"/>
                </a:solidFill>
                <a:latin typeface="Calibri"/>
              </a:rPr>
              <a:t>Supabase</a:t>
            </a:r>
            <a:r>
              <a:rPr sz="1350" b="0" dirty="0">
                <a:solidFill>
                  <a:srgbClr val="1A1A1A"/>
                </a:solidFill>
                <a:latin typeface="Calibri"/>
              </a:rPr>
              <a:t> tables reserved for a not-yet-built “Python forecasting service”.</a:t>
            </a:r>
          </a:p>
        </p:txBody>
      </p:sp>
      <p:sp>
        <p:nvSpPr>
          <p:cNvPr id="7" name="TextBox 6"/>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AI Integration</a:t>
            </a:r>
          </a:p>
        </p:txBody>
      </p:sp>
      <p:sp>
        <p:nvSpPr>
          <p:cNvPr id="8" name="TextBox 7"/>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29</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0058400" cy="548640"/>
          </a:xfrm>
          <a:prstGeom prst="rect">
            <a:avLst/>
          </a:prstGeom>
          <a:noFill/>
        </p:spPr>
        <p:txBody>
          <a:bodyPr wrap="square" anchor="t">
            <a:spAutoFit/>
          </a:bodyPr>
          <a:lstStyle/>
          <a:p>
            <a:pPr algn="l">
              <a:lnSpc>
                <a:spcPct val="100000"/>
              </a:lnSpc>
            </a:pPr>
            <a:r>
              <a:rPr sz="2600" b="1" i="0">
                <a:solidFill>
                  <a:srgbClr val="FFFFFF"/>
                </a:solidFill>
                <a:latin typeface="Calibri"/>
              </a:rPr>
              <a:t>Example: Input → AI Output</a:t>
            </a:r>
          </a:p>
        </p:txBody>
      </p:sp>
      <p:sp>
        <p:nvSpPr>
          <p:cNvPr id="4" name="TextBox 3"/>
          <p:cNvSpPr txBox="1"/>
          <p:nvPr/>
        </p:nvSpPr>
        <p:spPr>
          <a:xfrm>
            <a:off x="548640" y="1234440"/>
            <a:ext cx="5394960" cy="365760"/>
          </a:xfrm>
          <a:prstGeom prst="rect">
            <a:avLst/>
          </a:prstGeom>
          <a:noFill/>
        </p:spPr>
        <p:txBody>
          <a:bodyPr wrap="square" anchor="t">
            <a:spAutoFit/>
          </a:bodyPr>
          <a:lstStyle/>
          <a:p>
            <a:pPr algn="l">
              <a:lnSpc>
                <a:spcPct val="100000"/>
              </a:lnSpc>
            </a:pPr>
            <a:r>
              <a:rPr sz="1400" b="1" i="0">
                <a:solidFill>
                  <a:srgbClr val="1B5E3F"/>
                </a:solidFill>
                <a:latin typeface="Calibri"/>
              </a:rPr>
              <a:t>EXAMPLE INPUT</a:t>
            </a:r>
          </a:p>
        </p:txBody>
      </p:sp>
      <p:sp>
        <p:nvSpPr>
          <p:cNvPr id="5" name="Rectangle 4"/>
          <p:cNvSpPr/>
          <p:nvPr/>
        </p:nvSpPr>
        <p:spPr>
          <a:xfrm>
            <a:off x="548640" y="1645920"/>
            <a:ext cx="5394960"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286000"/>
            <a:ext cx="4937760" cy="2944011"/>
          </a:xfrm>
          <a:prstGeom prst="rect">
            <a:avLst/>
          </a:prstGeom>
          <a:noFill/>
        </p:spPr>
        <p:txBody>
          <a:bodyPr wrap="square" anchor="t">
            <a:spAutoFit/>
          </a:bodyPr>
          <a:lstStyle/>
          <a:p>
            <a:pPr algn="l">
              <a:lnSpc>
                <a:spcPct val="130000"/>
              </a:lnSpc>
            </a:pPr>
            <a:r>
              <a:rPr b="0" i="0" dirty="0">
                <a:solidFill>
                  <a:srgbClr val="1A1A1A"/>
                </a:solidFill>
                <a:latin typeface="Calibri"/>
              </a:rPr>
              <a:t>Product: Cooking Oil 1L</a:t>
            </a:r>
          </a:p>
          <a:p>
            <a:pPr algn="l">
              <a:lnSpc>
                <a:spcPct val="130000"/>
              </a:lnSpc>
            </a:pPr>
            <a:r>
              <a:rPr b="0" i="0" dirty="0">
                <a:solidFill>
                  <a:srgbClr val="1A1A1A"/>
                </a:solidFill>
                <a:latin typeface="Calibri"/>
              </a:rPr>
              <a:t>Current stock: 14 bottles</a:t>
            </a:r>
          </a:p>
          <a:p>
            <a:pPr algn="l">
              <a:lnSpc>
                <a:spcPct val="130000"/>
              </a:lnSpc>
            </a:pPr>
            <a:r>
              <a:rPr b="0" i="0" dirty="0">
                <a:solidFill>
                  <a:srgbClr val="1A1A1A"/>
                </a:solidFill>
                <a:latin typeface="Calibri"/>
              </a:rPr>
              <a:t>Minimum threshold: 25 bottles</a:t>
            </a:r>
          </a:p>
          <a:p>
            <a:pPr algn="l">
              <a:lnSpc>
                <a:spcPct val="130000"/>
              </a:lnSpc>
            </a:pPr>
            <a:r>
              <a:rPr b="0" i="0" dirty="0">
                <a:solidFill>
                  <a:srgbClr val="1A1A1A"/>
                </a:solidFill>
                <a:latin typeface="Calibri"/>
              </a:rPr>
              <a:t>Recent sales history: ~0.7 units/day average</a:t>
            </a:r>
          </a:p>
          <a:p>
            <a:pPr algn="l">
              <a:lnSpc>
                <a:spcPct val="130000"/>
              </a:lnSpc>
            </a:pPr>
            <a:r>
              <a:rPr b="0" i="0" dirty="0">
                <a:solidFill>
                  <a:srgbClr val="1A1A1A"/>
                </a:solidFill>
                <a:latin typeface="Calibri"/>
              </a:rPr>
              <a:t>Recent purchase costs: rising over last 3 orders</a:t>
            </a:r>
          </a:p>
          <a:p>
            <a:pPr algn="l">
              <a:lnSpc>
                <a:spcPct val="130000"/>
              </a:lnSpc>
            </a:pPr>
            <a:endParaRPr b="0" i="0" dirty="0">
              <a:solidFill>
                <a:srgbClr val="1A1A1A"/>
              </a:solidFill>
              <a:latin typeface="Calibri"/>
            </a:endParaRPr>
          </a:p>
          <a:p>
            <a:pPr algn="l">
              <a:lnSpc>
                <a:spcPct val="130000"/>
              </a:lnSpc>
            </a:pPr>
            <a:r>
              <a:rPr b="0" i="0" dirty="0">
                <a:solidFill>
                  <a:srgbClr val="1A1A1A"/>
                </a:solidFill>
                <a:latin typeface="Calibri"/>
              </a:rPr>
              <a:t>(the same kind of data shown on the Inventory,</a:t>
            </a:r>
          </a:p>
          <a:p>
            <a:pPr algn="l">
              <a:lnSpc>
                <a:spcPct val="130000"/>
              </a:lnSpc>
            </a:pPr>
            <a:r>
              <a:rPr b="0" i="0" dirty="0">
                <a:solidFill>
                  <a:srgbClr val="1A1A1A"/>
                </a:solidFill>
                <a:latin typeface="Calibri"/>
              </a:rPr>
              <a:t>Sales and Purchases screens earlier in this deck)</a:t>
            </a:r>
          </a:p>
        </p:txBody>
      </p:sp>
      <p:sp>
        <p:nvSpPr>
          <p:cNvPr id="7" name="TextBox 6"/>
          <p:cNvSpPr txBox="1"/>
          <p:nvPr/>
        </p:nvSpPr>
        <p:spPr>
          <a:xfrm>
            <a:off x="6263640" y="1234440"/>
            <a:ext cx="5394960" cy="365760"/>
          </a:xfrm>
          <a:prstGeom prst="rect">
            <a:avLst/>
          </a:prstGeom>
          <a:noFill/>
        </p:spPr>
        <p:txBody>
          <a:bodyPr wrap="square" anchor="t">
            <a:spAutoFit/>
          </a:bodyPr>
          <a:lstStyle/>
          <a:p>
            <a:pPr algn="l">
              <a:lnSpc>
                <a:spcPct val="100000"/>
              </a:lnSpc>
            </a:pPr>
            <a:r>
              <a:rPr sz="1400" b="1" i="0">
                <a:solidFill>
                  <a:srgbClr val="1B5E3F"/>
                </a:solidFill>
                <a:latin typeface="Calibri"/>
              </a:rPr>
              <a:t>AI-GENERATED OUTPUT</a:t>
            </a:r>
          </a:p>
        </p:txBody>
      </p:sp>
      <p:sp>
        <p:nvSpPr>
          <p:cNvPr id="8" name="Rectangle 7"/>
          <p:cNvSpPr/>
          <p:nvPr/>
        </p:nvSpPr>
        <p:spPr>
          <a:xfrm>
            <a:off x="6263640" y="1645920"/>
            <a:ext cx="5394960" cy="420624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828800"/>
            <a:ext cx="4937760" cy="3664208"/>
          </a:xfrm>
          <a:prstGeom prst="rect">
            <a:avLst/>
          </a:prstGeom>
          <a:noFill/>
        </p:spPr>
        <p:txBody>
          <a:bodyPr wrap="square" anchor="t">
            <a:spAutoFit/>
          </a:bodyPr>
          <a:lstStyle/>
          <a:p>
            <a:pPr algn="l">
              <a:lnSpc>
                <a:spcPct val="130000"/>
              </a:lnSpc>
            </a:pPr>
            <a:r>
              <a:rPr b="0" i="0" dirty="0">
                <a:solidFill>
                  <a:srgbClr val="FFFFFF"/>
                </a:solidFill>
                <a:latin typeface="Calibri"/>
              </a:rPr>
              <a:t>⚠ HIGH </a:t>
            </a:r>
            <a:r>
              <a:rPr lang="en-PH" b="0" i="0" dirty="0">
                <a:solidFill>
                  <a:srgbClr val="FFFFFF"/>
                </a:solidFill>
                <a:latin typeface="Calibri"/>
              </a:rPr>
              <a:t>-</a:t>
            </a:r>
            <a:r>
              <a:rPr b="0" i="0" dirty="0">
                <a:solidFill>
                  <a:srgbClr val="FFFFFF"/>
                </a:solidFill>
                <a:latin typeface="Calibri"/>
              </a:rPr>
              <a:t> Cooking Oil is running low</a:t>
            </a:r>
          </a:p>
          <a:p>
            <a:pPr algn="l">
              <a:lnSpc>
                <a:spcPct val="130000"/>
              </a:lnSpc>
            </a:pPr>
            <a:r>
              <a:rPr b="0" i="0" dirty="0">
                <a:solidFill>
                  <a:srgbClr val="FFFFFF"/>
                </a:solidFill>
                <a:latin typeface="Calibri"/>
              </a:rPr>
              <a:t>“Stock is below the minimum you set.</a:t>
            </a:r>
          </a:p>
          <a:p>
            <a:pPr algn="l">
              <a:lnSpc>
                <a:spcPct val="130000"/>
              </a:lnSpc>
            </a:pPr>
            <a:r>
              <a:rPr b="0" i="0" dirty="0">
                <a:solidFill>
                  <a:srgbClr val="FFFFFF"/>
                </a:solidFill>
                <a:latin typeface="Calibri"/>
              </a:rPr>
              <a:t>Reorder before it runs out.”</a:t>
            </a:r>
          </a:p>
          <a:p>
            <a:pPr algn="l">
              <a:lnSpc>
                <a:spcPct val="130000"/>
              </a:lnSpc>
            </a:pPr>
            <a:endParaRPr b="0" i="0" dirty="0">
              <a:solidFill>
                <a:srgbClr val="FFFFFF"/>
              </a:solidFill>
              <a:latin typeface="Calibri"/>
            </a:endParaRPr>
          </a:p>
          <a:p>
            <a:pPr algn="l">
              <a:lnSpc>
                <a:spcPct val="130000"/>
              </a:lnSpc>
            </a:pPr>
            <a:r>
              <a:rPr b="0" i="0" dirty="0">
                <a:solidFill>
                  <a:srgbClr val="FFFFFF"/>
                </a:solidFill>
                <a:latin typeface="Calibri"/>
              </a:rPr>
              <a:t>⚠ MEDIUM </a:t>
            </a:r>
            <a:r>
              <a:rPr lang="en-PH" b="0" i="0" dirty="0">
                <a:solidFill>
                  <a:srgbClr val="FFFFFF"/>
                </a:solidFill>
                <a:latin typeface="Calibri"/>
              </a:rPr>
              <a:t>-</a:t>
            </a:r>
            <a:r>
              <a:rPr b="0" i="0" dirty="0">
                <a:solidFill>
                  <a:srgbClr val="FFFFFF"/>
                </a:solidFill>
                <a:latin typeface="Calibri"/>
              </a:rPr>
              <a:t> Flour supplier price is increasing</a:t>
            </a:r>
          </a:p>
          <a:p>
            <a:pPr algn="l">
              <a:lnSpc>
                <a:spcPct val="130000"/>
              </a:lnSpc>
            </a:pPr>
            <a:r>
              <a:rPr b="0" i="0" dirty="0">
                <a:solidFill>
                  <a:srgbClr val="FFFFFF"/>
                </a:solidFill>
                <a:latin typeface="Calibri"/>
              </a:rPr>
              <a:t>“</a:t>
            </a:r>
            <a:r>
              <a:rPr b="0" i="0" dirty="0" err="1">
                <a:solidFill>
                  <a:srgbClr val="FFFFFF"/>
                </a:solidFill>
                <a:latin typeface="Calibri"/>
              </a:rPr>
              <a:t>Masaganang</a:t>
            </a:r>
            <a:r>
              <a:rPr b="0" i="0" dirty="0">
                <a:solidFill>
                  <a:srgbClr val="FFFFFF"/>
                </a:solidFill>
                <a:latin typeface="Calibri"/>
              </a:rPr>
              <a:t> Bakeshop Supplies has raised</a:t>
            </a:r>
          </a:p>
          <a:p>
            <a:pPr algn="l">
              <a:lnSpc>
                <a:spcPct val="130000"/>
              </a:lnSpc>
            </a:pPr>
            <a:r>
              <a:rPr b="0" i="0" dirty="0">
                <a:solidFill>
                  <a:srgbClr val="FFFFFF"/>
                </a:solidFill>
                <a:latin typeface="Calibri"/>
              </a:rPr>
              <a:t>its unit price over recent orders.”</a:t>
            </a:r>
          </a:p>
          <a:p>
            <a:pPr algn="l">
              <a:lnSpc>
                <a:spcPct val="130000"/>
              </a:lnSpc>
            </a:pPr>
            <a:endParaRPr b="0" i="0" dirty="0">
              <a:solidFill>
                <a:srgbClr val="FFFFFF"/>
              </a:solidFill>
              <a:latin typeface="Calibri"/>
            </a:endParaRPr>
          </a:p>
          <a:p>
            <a:pPr algn="l">
              <a:lnSpc>
                <a:spcPct val="130000"/>
              </a:lnSpc>
            </a:pPr>
            <a:r>
              <a:rPr b="0" i="0" dirty="0">
                <a:solidFill>
                  <a:srgbClr val="FFFFFF"/>
                </a:solidFill>
                <a:latin typeface="Calibri"/>
              </a:rPr>
              <a:t>(both computed live and shown on the</a:t>
            </a:r>
          </a:p>
          <a:p>
            <a:pPr algn="l">
              <a:lnSpc>
                <a:spcPct val="130000"/>
              </a:lnSpc>
            </a:pPr>
            <a:r>
              <a:rPr b="0" i="0" dirty="0">
                <a:solidFill>
                  <a:srgbClr val="FFFFFF"/>
                </a:solidFill>
                <a:latin typeface="Calibri"/>
              </a:rPr>
              <a:t>Alerts screen earlier in this deck)</a:t>
            </a:r>
          </a:p>
        </p:txBody>
      </p:sp>
      <p:sp>
        <p:nvSpPr>
          <p:cNvPr id="10" name="TextBox 9"/>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AI Integration</a:t>
            </a:r>
          </a:p>
        </p:txBody>
      </p:sp>
      <p:sp>
        <p:nvSpPr>
          <p:cNvPr id="11" name="TextBox 10"/>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30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0058400" cy="548640"/>
          </a:xfrm>
          <a:prstGeom prst="rect">
            <a:avLst/>
          </a:prstGeom>
          <a:noFill/>
        </p:spPr>
        <p:txBody>
          <a:bodyPr wrap="square" anchor="t">
            <a:spAutoFit/>
          </a:bodyPr>
          <a:lstStyle/>
          <a:p>
            <a:pPr algn="l">
              <a:lnSpc>
                <a:spcPct val="100000"/>
              </a:lnSpc>
            </a:pPr>
            <a:r>
              <a:rPr sz="2600" b="1" i="0">
                <a:solidFill>
                  <a:srgbClr val="FFFFFF"/>
                </a:solidFill>
                <a:latin typeface="Calibri"/>
              </a:rPr>
              <a:t>Value to the User &amp; Architecture Roadmap</a:t>
            </a:r>
          </a:p>
        </p:txBody>
      </p:sp>
      <p:sp>
        <p:nvSpPr>
          <p:cNvPr id="4" name="TextBox 3"/>
          <p:cNvSpPr txBox="1"/>
          <p:nvPr/>
        </p:nvSpPr>
        <p:spPr>
          <a:xfrm>
            <a:off x="457200" y="1755648"/>
            <a:ext cx="5486400" cy="365760"/>
          </a:xfrm>
          <a:prstGeom prst="rect">
            <a:avLst/>
          </a:prstGeom>
          <a:noFill/>
        </p:spPr>
        <p:txBody>
          <a:bodyPr wrap="square" anchor="t">
            <a:spAutoFit/>
          </a:bodyPr>
          <a:lstStyle/>
          <a:p>
            <a:pPr algn="l">
              <a:lnSpc>
                <a:spcPct val="100000"/>
              </a:lnSpc>
            </a:pPr>
            <a:r>
              <a:rPr sz="1600" b="1" i="0" dirty="0">
                <a:solidFill>
                  <a:srgbClr val="1B5E3F"/>
                </a:solidFill>
                <a:latin typeface="Calibri"/>
              </a:rPr>
              <a:t>How it helps</a:t>
            </a:r>
          </a:p>
        </p:txBody>
      </p:sp>
      <p:sp>
        <p:nvSpPr>
          <p:cNvPr id="5" name="TextBox 4"/>
          <p:cNvSpPr txBox="1"/>
          <p:nvPr/>
        </p:nvSpPr>
        <p:spPr>
          <a:xfrm>
            <a:off x="457200" y="2121408"/>
            <a:ext cx="5486400" cy="1595309"/>
          </a:xfrm>
          <a:prstGeom prst="rect">
            <a:avLst/>
          </a:prstGeom>
          <a:noFill/>
        </p:spPr>
        <p:txBody>
          <a:bodyPr wrap="square">
            <a:spAutoFit/>
          </a:bodyPr>
          <a:lstStyle/>
          <a:p>
            <a:pPr>
              <a:spcAft>
                <a:spcPts val="1000"/>
              </a:spcAft>
            </a:pPr>
            <a:r>
              <a:rPr sz="1350" dirty="0">
                <a:solidFill>
                  <a:srgbClr val="1A1A1A"/>
                </a:solidFill>
                <a:latin typeface="Calibri"/>
              </a:rPr>
              <a:t>▸  Surfaces issues the owner might otherwise miss until it's too late (stockouts, rising costs)</a:t>
            </a:r>
          </a:p>
          <a:p>
            <a:pPr>
              <a:spcAft>
                <a:spcPts val="1000"/>
              </a:spcAft>
            </a:pPr>
            <a:r>
              <a:rPr sz="1350" dirty="0">
                <a:solidFill>
                  <a:srgbClr val="1A1A1A"/>
                </a:solidFill>
                <a:latin typeface="Calibri"/>
              </a:rPr>
              <a:t>▸  Explains its reasoning in plain language, backed by the owner's own records </a:t>
            </a:r>
            <a:r>
              <a:rPr lang="en-PH" sz="1350" dirty="0">
                <a:solidFill>
                  <a:srgbClr val="1A1A1A"/>
                </a:solidFill>
                <a:latin typeface="Calibri"/>
              </a:rPr>
              <a:t>-</a:t>
            </a:r>
            <a:r>
              <a:rPr sz="1350" dirty="0">
                <a:solidFill>
                  <a:srgbClr val="1A1A1A"/>
                </a:solidFill>
                <a:latin typeface="Calibri"/>
              </a:rPr>
              <a:t> not a black box</a:t>
            </a:r>
          </a:p>
          <a:p>
            <a:pPr>
              <a:spcAft>
                <a:spcPts val="1000"/>
              </a:spcAft>
            </a:pPr>
            <a:r>
              <a:rPr sz="1350" dirty="0">
                <a:solidFill>
                  <a:srgbClr val="1A1A1A"/>
                </a:solidFill>
                <a:latin typeface="Calibri"/>
              </a:rPr>
              <a:t>▸  Works fully offline, since it needs no external API or network connection to compute</a:t>
            </a:r>
          </a:p>
        </p:txBody>
      </p:sp>
      <p:sp>
        <p:nvSpPr>
          <p:cNvPr id="6" name="TextBox 5"/>
          <p:cNvSpPr txBox="1"/>
          <p:nvPr/>
        </p:nvSpPr>
        <p:spPr>
          <a:xfrm>
            <a:off x="457200" y="4224528"/>
            <a:ext cx="5486400" cy="365760"/>
          </a:xfrm>
          <a:prstGeom prst="rect">
            <a:avLst/>
          </a:prstGeom>
          <a:noFill/>
        </p:spPr>
        <p:txBody>
          <a:bodyPr wrap="square" anchor="t">
            <a:spAutoFit/>
          </a:bodyPr>
          <a:lstStyle/>
          <a:p>
            <a:pPr algn="l">
              <a:lnSpc>
                <a:spcPct val="100000"/>
              </a:lnSpc>
            </a:pPr>
            <a:r>
              <a:rPr sz="1600" b="1" i="0">
                <a:solidFill>
                  <a:srgbClr val="1B5E3F"/>
                </a:solidFill>
                <a:latin typeface="Calibri"/>
              </a:rPr>
              <a:t>Current honesty note</a:t>
            </a:r>
          </a:p>
        </p:txBody>
      </p:sp>
      <p:sp>
        <p:nvSpPr>
          <p:cNvPr id="7" name="TextBox 6"/>
          <p:cNvSpPr txBox="1"/>
          <p:nvPr/>
        </p:nvSpPr>
        <p:spPr>
          <a:xfrm>
            <a:off x="457200" y="4590288"/>
            <a:ext cx="5486400" cy="823623"/>
          </a:xfrm>
          <a:prstGeom prst="rect">
            <a:avLst/>
          </a:prstGeom>
          <a:noFill/>
        </p:spPr>
        <p:txBody>
          <a:bodyPr wrap="square" anchor="t">
            <a:spAutoFit/>
          </a:bodyPr>
          <a:lstStyle/>
          <a:p>
            <a:pPr algn="l">
              <a:lnSpc>
                <a:spcPct val="120000"/>
              </a:lnSpc>
            </a:pPr>
            <a:r>
              <a:rPr sz="1350" b="0" i="0" dirty="0">
                <a:solidFill>
                  <a:srgbClr val="1A1A1A"/>
                </a:solidFill>
                <a:latin typeface="Calibri"/>
              </a:rPr>
              <a:t>Today's “AI” is rule-based decision support (moving averages, trend detection, threshold alerts) run against the business's own data </a:t>
            </a:r>
            <a:r>
              <a:rPr lang="en-PH" sz="1350" b="0" i="0" dirty="0">
                <a:solidFill>
                  <a:srgbClr val="1A1A1A"/>
                </a:solidFill>
                <a:latin typeface="Calibri"/>
              </a:rPr>
              <a:t>-</a:t>
            </a:r>
            <a:r>
              <a:rPr sz="1350" b="0" i="0" dirty="0">
                <a:solidFill>
                  <a:srgbClr val="1A1A1A"/>
                </a:solidFill>
                <a:latin typeface="Calibri"/>
              </a:rPr>
              <a:t> not a trained model or an LLM.</a:t>
            </a:r>
          </a:p>
        </p:txBody>
      </p:sp>
      <p:sp>
        <p:nvSpPr>
          <p:cNvPr id="8" name="TextBox 7"/>
          <p:cNvSpPr txBox="1"/>
          <p:nvPr/>
        </p:nvSpPr>
        <p:spPr>
          <a:xfrm>
            <a:off x="6400800" y="1755648"/>
            <a:ext cx="5303520" cy="365760"/>
          </a:xfrm>
          <a:prstGeom prst="rect">
            <a:avLst/>
          </a:prstGeom>
          <a:noFill/>
        </p:spPr>
        <p:txBody>
          <a:bodyPr wrap="square" anchor="t">
            <a:spAutoFit/>
          </a:bodyPr>
          <a:lstStyle/>
          <a:p>
            <a:pPr algn="l">
              <a:lnSpc>
                <a:spcPct val="100000"/>
              </a:lnSpc>
            </a:pPr>
            <a:r>
              <a:rPr sz="1600" b="1" i="0">
                <a:solidFill>
                  <a:srgbClr val="1B5E3F"/>
                </a:solidFill>
                <a:latin typeface="Calibri"/>
              </a:rPr>
              <a:t>What's planned next</a:t>
            </a:r>
          </a:p>
        </p:txBody>
      </p:sp>
      <p:sp>
        <p:nvSpPr>
          <p:cNvPr id="9" name="TextBox 8"/>
          <p:cNvSpPr txBox="1"/>
          <p:nvPr/>
        </p:nvSpPr>
        <p:spPr>
          <a:xfrm>
            <a:off x="6400800" y="2121408"/>
            <a:ext cx="5303520" cy="4206240"/>
          </a:xfrm>
          <a:prstGeom prst="rect">
            <a:avLst/>
          </a:prstGeom>
          <a:noFill/>
        </p:spPr>
        <p:txBody>
          <a:bodyPr wrap="square">
            <a:spAutoFit/>
          </a:bodyPr>
          <a:lstStyle/>
          <a:p>
            <a:pPr>
              <a:spcAft>
                <a:spcPts val="1000"/>
              </a:spcAft>
            </a:pPr>
            <a:r>
              <a:rPr sz="1300" b="1">
                <a:solidFill>
                  <a:srgbClr val="1B5E3F"/>
                </a:solidFill>
                <a:latin typeface="Calibri"/>
              </a:rPr>
              <a:t>▸  Python forecasting service:  </a:t>
            </a:r>
            <a:r>
              <a:rPr sz="1300" b="0">
                <a:solidFill>
                  <a:srgbClr val="1A1A1A"/>
                </a:solidFill>
                <a:latin typeface="Calibri"/>
              </a:rPr>
              <a:t>the database schema already reserves tables (forecast_runs, demand_forecasts, price_forecasts, cost_forecasts, recommendations) for a machine-learning backend described in the project's own setup docs.</a:t>
            </a:r>
          </a:p>
          <a:p>
            <a:pPr>
              <a:spcAft>
                <a:spcPts val="1000"/>
              </a:spcAft>
            </a:pPr>
            <a:r>
              <a:rPr sz="1300" b="1">
                <a:solidFill>
                  <a:srgbClr val="1B5E3F"/>
                </a:solidFill>
                <a:latin typeface="Calibri"/>
              </a:rPr>
              <a:t>▸  Model-backed forecasts:  </a:t>
            </a:r>
            <a:r>
              <a:rPr sz="1300" b="0">
                <a:solidFill>
                  <a:srgbClr val="1A1A1A"/>
                </a:solidFill>
                <a:latin typeface="Calibri"/>
              </a:rPr>
              <a:t>once built, Forecast and AI Insights will read real model output instead of local arithmetic, with a model_version recorded per run.</a:t>
            </a:r>
          </a:p>
          <a:p>
            <a:pPr>
              <a:spcAft>
                <a:spcPts val="1000"/>
              </a:spcAft>
            </a:pPr>
            <a:r>
              <a:rPr sz="1300" b="1">
                <a:solidFill>
                  <a:srgbClr val="1B5E3F"/>
                </a:solidFill>
                <a:latin typeface="Calibri"/>
              </a:rPr>
              <a:t>▸  Natural-language insights:  </a:t>
            </a:r>
            <a:r>
              <a:rPr sz="1300" b="0">
                <a:solidFill>
                  <a:srgbClr val="1A1A1A"/>
                </a:solidFill>
                <a:latin typeface="Calibri"/>
              </a:rPr>
              <a:t>a future LLM layer could turn the same underlying signals into more conversational, tailored guidance.</a:t>
            </a:r>
          </a:p>
        </p:txBody>
      </p:sp>
      <p:sp>
        <p:nvSpPr>
          <p:cNvPr id="10" name="TextBox 9"/>
          <p:cNvSpPr txBox="1"/>
          <p:nvPr/>
        </p:nvSpPr>
        <p:spPr>
          <a:xfrm>
            <a:off x="457200" y="6537960"/>
            <a:ext cx="5486400" cy="274320"/>
          </a:xfrm>
          <a:prstGeom prst="rect">
            <a:avLst/>
          </a:prstGeom>
          <a:noFill/>
        </p:spPr>
        <p:txBody>
          <a:bodyPr wrap="square" anchor="t">
            <a:spAutoFit/>
          </a:bodyPr>
          <a:lstStyle/>
          <a:p>
            <a:pPr algn="l">
              <a:lnSpc>
                <a:spcPct val="100000"/>
              </a:lnSpc>
            </a:pPr>
            <a:r>
              <a:rPr sz="1000" b="0" i="0">
                <a:solidFill>
                  <a:srgbClr val="5B635E"/>
                </a:solidFill>
                <a:latin typeface="Calibri"/>
              </a:rPr>
              <a:t>AI Integration</a:t>
            </a:r>
          </a:p>
        </p:txBody>
      </p:sp>
      <p:sp>
        <p:nvSpPr>
          <p:cNvPr id="11" name="TextBox 10"/>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31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B5E3F"/>
        </a:solidFill>
        <a:effectLst/>
      </p:bgPr>
    </p:bg>
    <p:spTree>
      <p:nvGrpSpPr>
        <p:cNvPr id="1" name=""/>
        <p:cNvGrpSpPr/>
        <p:nvPr/>
      </p:nvGrpSpPr>
      <p:grpSpPr>
        <a:xfrm>
          <a:off x="0" y="0"/>
          <a:ext cx="0" cy="0"/>
          <a:chOff x="0" y="0"/>
          <a:chExt cx="0" cy="0"/>
        </a:xfrm>
      </p:grpSpPr>
      <p:sp>
        <p:nvSpPr>
          <p:cNvPr id="2" name="Rectangle 1"/>
          <p:cNvSpPr/>
          <p:nvPr/>
        </p:nvSpPr>
        <p:spPr>
          <a:xfrm>
            <a:off x="0" y="3017520"/>
            <a:ext cx="12191695" cy="36576"/>
          </a:xfrm>
          <a:prstGeom prst="rect">
            <a:avLst/>
          </a:prstGeom>
          <a:solidFill>
            <a:srgbClr val="5FB4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377440"/>
            <a:ext cx="10332720" cy="914400"/>
          </a:xfrm>
          <a:prstGeom prst="rect">
            <a:avLst/>
          </a:prstGeom>
          <a:noFill/>
        </p:spPr>
        <p:txBody>
          <a:bodyPr wrap="square" anchor="t">
            <a:spAutoFit/>
          </a:bodyPr>
          <a:lstStyle/>
          <a:p>
            <a:pPr algn="l">
              <a:lnSpc>
                <a:spcPct val="100000"/>
              </a:lnSpc>
            </a:pPr>
            <a:r>
              <a:rPr sz="4000" b="1" i="0">
                <a:solidFill>
                  <a:srgbClr val="FFFFFF"/>
                </a:solidFill>
                <a:latin typeface="Calibri"/>
              </a:rPr>
              <a:t>System Completion &amp; Summary</a:t>
            </a:r>
          </a:p>
        </p:txBody>
      </p:sp>
      <p:sp>
        <p:nvSpPr>
          <p:cNvPr id="4" name="TextBox 3"/>
          <p:cNvSpPr txBox="1"/>
          <p:nvPr/>
        </p:nvSpPr>
        <p:spPr>
          <a:xfrm>
            <a:off x="914400" y="3246120"/>
            <a:ext cx="10332720" cy="731520"/>
          </a:xfrm>
          <a:prstGeom prst="rect">
            <a:avLst/>
          </a:prstGeom>
          <a:noFill/>
        </p:spPr>
        <p:txBody>
          <a:bodyPr wrap="square" anchor="t">
            <a:spAutoFit/>
          </a:bodyPr>
          <a:lstStyle/>
          <a:p>
            <a:pPr algn="l">
              <a:lnSpc>
                <a:spcPct val="100000"/>
              </a:lnSpc>
            </a:pPr>
            <a:r>
              <a:rPr sz="1600" b="0" i="0">
                <a:solidFill>
                  <a:srgbClr val="5FB48C"/>
                </a:solidFill>
                <a:latin typeface="Calibri"/>
              </a:rPr>
              <a:t>Wrapping up: features, technology, challenges, and what's next</a:t>
            </a:r>
          </a:p>
        </p:txBody>
      </p:sp>
      <p:sp>
        <p:nvSpPr>
          <p:cNvPr id="5" name="TextBox 4"/>
          <p:cNvSpPr txBox="1"/>
          <p:nvPr/>
        </p:nvSpPr>
        <p:spPr>
          <a:xfrm>
            <a:off x="457200" y="6537960"/>
            <a:ext cx="5486400" cy="246221"/>
          </a:xfrm>
          <a:prstGeom prst="rect">
            <a:avLst/>
          </a:prstGeom>
          <a:noFill/>
        </p:spPr>
        <p:txBody>
          <a:bodyPr wrap="square" anchor="t">
            <a:spAutoFit/>
          </a:bodyPr>
          <a:lstStyle/>
          <a:p>
            <a:pPr algn="l">
              <a:lnSpc>
                <a:spcPct val="100000"/>
              </a:lnSpc>
            </a:pPr>
            <a:r>
              <a:rPr sz="1000" b="0" i="0" dirty="0" err="1">
                <a:solidFill>
                  <a:srgbClr val="5B635E"/>
                </a:solidFill>
                <a:latin typeface="Calibri"/>
              </a:rPr>
              <a:t>Bantayledger</a:t>
            </a:r>
            <a:r>
              <a:rPr sz="1000" b="0" i="0" dirty="0">
                <a:solidFill>
                  <a:srgbClr val="5B635E"/>
                </a:solidFill>
                <a:latin typeface="Calibri"/>
              </a:rPr>
              <a:t> </a:t>
            </a:r>
            <a:r>
              <a:rPr lang="en-PH" sz="1000" b="0" i="0" dirty="0">
                <a:solidFill>
                  <a:srgbClr val="5B635E"/>
                </a:solidFill>
                <a:latin typeface="Calibri"/>
              </a:rPr>
              <a:t>-</a:t>
            </a:r>
            <a:r>
              <a:rPr sz="1000" b="0" i="0" dirty="0">
                <a:solidFill>
                  <a:srgbClr val="5B635E"/>
                </a:solidFill>
                <a:latin typeface="Calibri"/>
              </a:rPr>
              <a:t> </a:t>
            </a:r>
            <a:r>
              <a:rPr sz="1000" b="0" i="0" dirty="0" err="1">
                <a:solidFill>
                  <a:srgbClr val="5B635E"/>
                </a:solidFill>
                <a:latin typeface="Calibri"/>
              </a:rPr>
              <a:t>Technopreneurship</a:t>
            </a:r>
            <a:endParaRPr sz="1000" b="0" i="0" dirty="0">
              <a:solidFill>
                <a:srgbClr val="5B635E"/>
              </a:solidFill>
              <a:latin typeface="Calibri"/>
            </a:endParaRPr>
          </a:p>
        </p:txBody>
      </p:sp>
      <p:sp>
        <p:nvSpPr>
          <p:cNvPr id="6" name="TextBox 5"/>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32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9144000" cy="548640"/>
          </a:xfrm>
          <a:prstGeom prst="rect">
            <a:avLst/>
          </a:prstGeom>
          <a:noFill/>
        </p:spPr>
        <p:txBody>
          <a:bodyPr wrap="square" anchor="t">
            <a:spAutoFit/>
          </a:bodyPr>
          <a:lstStyle/>
          <a:p>
            <a:pPr algn="l">
              <a:lnSpc>
                <a:spcPct val="100000"/>
              </a:lnSpc>
            </a:pPr>
            <a:r>
              <a:rPr sz="2600" b="1" i="0">
                <a:solidFill>
                  <a:srgbClr val="FFFFFF"/>
                </a:solidFill>
                <a:latin typeface="Calibri"/>
              </a:rPr>
              <a:t>Final System Screenshot</a:t>
            </a:r>
          </a:p>
        </p:txBody>
      </p:sp>
      <p:pic>
        <p:nvPicPr>
          <p:cNvPr id="4" name="Picture 3" descr="16_reports.jpg"/>
          <p:cNvPicPr>
            <a:picLocks noChangeAspect="1"/>
          </p:cNvPicPr>
          <p:nvPr/>
        </p:nvPicPr>
        <p:blipFill>
          <a:blip r:embed="rId2"/>
          <a:stretch>
            <a:fillRect/>
          </a:stretch>
        </p:blipFill>
        <p:spPr>
          <a:xfrm>
            <a:off x="1737360" y="1234440"/>
            <a:ext cx="8686800" cy="3889116"/>
          </a:xfrm>
          <a:prstGeom prst="rect">
            <a:avLst/>
          </a:prstGeom>
        </p:spPr>
      </p:pic>
      <p:sp>
        <p:nvSpPr>
          <p:cNvPr id="5" name="Rectangle 4"/>
          <p:cNvSpPr/>
          <p:nvPr/>
        </p:nvSpPr>
        <p:spPr>
          <a:xfrm>
            <a:off x="1737360" y="1234440"/>
            <a:ext cx="8686800" cy="3889116"/>
          </a:xfrm>
          <a:prstGeom prst="rect">
            <a:avLst/>
          </a:prstGeom>
          <a:noFill/>
          <a:ln w="12700">
            <a:solidFill>
              <a:srgbClr val="D5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37360" y="5260716"/>
            <a:ext cx="8686800" cy="276999"/>
          </a:xfrm>
          <a:prstGeom prst="rect">
            <a:avLst/>
          </a:prstGeom>
          <a:noFill/>
        </p:spPr>
        <p:txBody>
          <a:bodyPr wrap="square" anchor="t">
            <a:spAutoFit/>
          </a:bodyPr>
          <a:lstStyle/>
          <a:p>
            <a:pPr algn="ctr">
              <a:lnSpc>
                <a:spcPct val="100000"/>
              </a:lnSpc>
            </a:pPr>
            <a:r>
              <a:rPr sz="1200" b="0" i="1" dirty="0">
                <a:solidFill>
                  <a:srgbClr val="5B635E"/>
                </a:solidFill>
                <a:latin typeface="Calibri"/>
              </a:rPr>
              <a:t>Reports </a:t>
            </a:r>
            <a:r>
              <a:rPr lang="en-PH" sz="1200" b="0" i="1" dirty="0">
                <a:solidFill>
                  <a:srgbClr val="5B635E"/>
                </a:solidFill>
                <a:latin typeface="Calibri"/>
              </a:rPr>
              <a:t>-</a:t>
            </a:r>
            <a:r>
              <a:rPr sz="1200" b="0" i="1" dirty="0">
                <a:solidFill>
                  <a:srgbClr val="5B635E"/>
                </a:solidFill>
                <a:latin typeface="Calibri"/>
              </a:rPr>
              <a:t> the consolidated view of everything the system tracks: sales, expenses, inventory and purchasing.</a:t>
            </a:r>
          </a:p>
        </p:txBody>
      </p:sp>
      <p:sp>
        <p:nvSpPr>
          <p:cNvPr id="7" name="TextBox 6"/>
          <p:cNvSpPr txBox="1"/>
          <p:nvPr/>
        </p:nvSpPr>
        <p:spPr>
          <a:xfrm>
            <a:off x="457200" y="6537960"/>
            <a:ext cx="5486400" cy="246221"/>
          </a:xfrm>
          <a:prstGeom prst="rect">
            <a:avLst/>
          </a:prstGeom>
          <a:noFill/>
        </p:spPr>
        <p:txBody>
          <a:bodyPr wrap="square" anchor="t">
            <a:spAutoFit/>
          </a:bodyPr>
          <a:lstStyle/>
          <a:p>
            <a:pPr algn="l">
              <a:lnSpc>
                <a:spcPct val="100000"/>
              </a:lnSpc>
            </a:pPr>
            <a:r>
              <a:rPr sz="1000" b="0" i="0" dirty="0" err="1">
                <a:solidFill>
                  <a:srgbClr val="5B635E"/>
                </a:solidFill>
                <a:latin typeface="Calibri"/>
              </a:rPr>
              <a:t>Bantayledger</a:t>
            </a:r>
            <a:r>
              <a:rPr sz="1000" b="0" i="0" dirty="0">
                <a:solidFill>
                  <a:srgbClr val="5B635E"/>
                </a:solidFill>
                <a:latin typeface="Calibri"/>
              </a:rPr>
              <a:t> </a:t>
            </a:r>
            <a:r>
              <a:rPr lang="en-PH" sz="1000" b="0" i="0" dirty="0">
                <a:solidFill>
                  <a:srgbClr val="5B635E"/>
                </a:solidFill>
                <a:latin typeface="Calibri"/>
              </a:rPr>
              <a:t>-</a:t>
            </a:r>
            <a:r>
              <a:rPr sz="1000" b="0" i="0" dirty="0">
                <a:solidFill>
                  <a:srgbClr val="5B635E"/>
                </a:solidFill>
                <a:latin typeface="Calibri"/>
              </a:rPr>
              <a:t> </a:t>
            </a:r>
            <a:r>
              <a:rPr sz="1000" b="0" i="0" dirty="0" err="1">
                <a:solidFill>
                  <a:srgbClr val="5B635E"/>
                </a:solidFill>
                <a:latin typeface="Calibri"/>
              </a:rPr>
              <a:t>Technopreneurship</a:t>
            </a:r>
            <a:endParaRPr sz="1000" b="0" i="0" dirty="0">
              <a:solidFill>
                <a:srgbClr val="5B635E"/>
              </a:solidFill>
              <a:latin typeface="Calibri"/>
            </a:endParaRPr>
          </a:p>
        </p:txBody>
      </p:sp>
      <p:sp>
        <p:nvSpPr>
          <p:cNvPr id="8" name="TextBox 7"/>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33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B5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0058400" cy="548640"/>
          </a:xfrm>
          <a:prstGeom prst="rect">
            <a:avLst/>
          </a:prstGeom>
          <a:noFill/>
        </p:spPr>
        <p:txBody>
          <a:bodyPr wrap="square" anchor="t">
            <a:spAutoFit/>
          </a:bodyPr>
          <a:lstStyle/>
          <a:p>
            <a:pPr algn="l">
              <a:lnSpc>
                <a:spcPct val="100000"/>
              </a:lnSpc>
            </a:pPr>
            <a:r>
              <a:rPr sz="2600" b="1" i="0">
                <a:solidFill>
                  <a:srgbClr val="FFFFFF"/>
                </a:solidFill>
                <a:latin typeface="Calibri"/>
              </a:rPr>
              <a:t>Summary</a:t>
            </a:r>
          </a:p>
        </p:txBody>
      </p:sp>
      <p:sp>
        <p:nvSpPr>
          <p:cNvPr id="4" name="TextBox 3"/>
          <p:cNvSpPr txBox="1"/>
          <p:nvPr/>
        </p:nvSpPr>
        <p:spPr>
          <a:xfrm>
            <a:off x="457200" y="1188720"/>
            <a:ext cx="5486400" cy="365760"/>
          </a:xfrm>
          <a:prstGeom prst="rect">
            <a:avLst/>
          </a:prstGeom>
          <a:noFill/>
        </p:spPr>
        <p:txBody>
          <a:bodyPr wrap="square" anchor="t">
            <a:spAutoFit/>
          </a:bodyPr>
          <a:lstStyle/>
          <a:p>
            <a:pPr algn="l">
              <a:lnSpc>
                <a:spcPct val="100000"/>
              </a:lnSpc>
            </a:pPr>
            <a:r>
              <a:rPr sz="1500" b="1" i="0">
                <a:solidFill>
                  <a:srgbClr val="1B5E3F"/>
                </a:solidFill>
                <a:latin typeface="Calibri"/>
              </a:rPr>
              <a:t>Major features</a:t>
            </a:r>
          </a:p>
        </p:txBody>
      </p:sp>
      <p:sp>
        <p:nvSpPr>
          <p:cNvPr id="5" name="TextBox 4"/>
          <p:cNvSpPr txBox="1"/>
          <p:nvPr/>
        </p:nvSpPr>
        <p:spPr>
          <a:xfrm>
            <a:off x="457200" y="1554480"/>
            <a:ext cx="5486400" cy="2377440"/>
          </a:xfrm>
          <a:prstGeom prst="rect">
            <a:avLst/>
          </a:prstGeom>
          <a:noFill/>
        </p:spPr>
        <p:txBody>
          <a:bodyPr wrap="square">
            <a:spAutoFit/>
          </a:bodyPr>
          <a:lstStyle/>
          <a:p>
            <a:pPr>
              <a:spcAft>
                <a:spcPts val="800"/>
              </a:spcAft>
            </a:pPr>
            <a:r>
              <a:rPr sz="1300" dirty="0">
                <a:solidFill>
                  <a:srgbClr val="1A1A1A"/>
                </a:solidFill>
                <a:latin typeface="Calibri"/>
              </a:rPr>
              <a:t>▸  End-to-end ledger: sales, purchases, suppliers, expenses, waste</a:t>
            </a:r>
          </a:p>
          <a:p>
            <a:pPr>
              <a:spcAft>
                <a:spcPts val="800"/>
              </a:spcAft>
            </a:pPr>
            <a:r>
              <a:rPr sz="1300" dirty="0">
                <a:solidFill>
                  <a:srgbClr val="1A1A1A"/>
                </a:solidFill>
                <a:latin typeface="Calibri"/>
              </a:rPr>
              <a:t>▸  Real-time inventory with low-stock status and alerts</a:t>
            </a:r>
          </a:p>
          <a:p>
            <a:pPr>
              <a:spcAft>
                <a:spcPts val="800"/>
              </a:spcAft>
            </a:pPr>
            <a:r>
              <a:rPr sz="1300" dirty="0">
                <a:solidFill>
                  <a:srgbClr val="1A1A1A"/>
                </a:solidFill>
                <a:latin typeface="Calibri"/>
              </a:rPr>
              <a:t>▸  Forecast hub and AI Insights recommendation feed</a:t>
            </a:r>
          </a:p>
          <a:p>
            <a:pPr>
              <a:spcAft>
                <a:spcPts val="800"/>
              </a:spcAft>
            </a:pPr>
            <a:r>
              <a:rPr sz="1300" dirty="0">
                <a:solidFill>
                  <a:srgbClr val="1A1A1A"/>
                </a:solidFill>
                <a:latin typeface="Calibri"/>
              </a:rPr>
              <a:t>▸  Multi-role business membership (Owner/Admin/Staff)</a:t>
            </a:r>
          </a:p>
          <a:p>
            <a:pPr>
              <a:spcAft>
                <a:spcPts val="800"/>
              </a:spcAft>
            </a:pPr>
            <a:r>
              <a:rPr sz="1300" dirty="0">
                <a:solidFill>
                  <a:srgbClr val="1A1A1A"/>
                </a:solidFill>
                <a:latin typeface="Calibri"/>
              </a:rPr>
              <a:t>▸  Offline-first with optional </a:t>
            </a:r>
            <a:r>
              <a:rPr sz="1300" dirty="0" err="1">
                <a:solidFill>
                  <a:srgbClr val="1A1A1A"/>
                </a:solidFill>
                <a:latin typeface="Calibri"/>
              </a:rPr>
              <a:t>Supabase</a:t>
            </a:r>
            <a:r>
              <a:rPr sz="1300" dirty="0">
                <a:solidFill>
                  <a:srgbClr val="1A1A1A"/>
                </a:solidFill>
                <a:latin typeface="Calibri"/>
              </a:rPr>
              <a:t> cloud sync</a:t>
            </a:r>
          </a:p>
        </p:txBody>
      </p:sp>
      <p:sp>
        <p:nvSpPr>
          <p:cNvPr id="6" name="TextBox 5"/>
          <p:cNvSpPr txBox="1"/>
          <p:nvPr/>
        </p:nvSpPr>
        <p:spPr>
          <a:xfrm>
            <a:off x="457200" y="4114800"/>
            <a:ext cx="5486400" cy="365760"/>
          </a:xfrm>
          <a:prstGeom prst="rect">
            <a:avLst/>
          </a:prstGeom>
          <a:noFill/>
        </p:spPr>
        <p:txBody>
          <a:bodyPr wrap="square" anchor="t">
            <a:spAutoFit/>
          </a:bodyPr>
          <a:lstStyle/>
          <a:p>
            <a:pPr algn="l">
              <a:lnSpc>
                <a:spcPct val="100000"/>
              </a:lnSpc>
            </a:pPr>
            <a:r>
              <a:rPr sz="1500" b="1" i="0">
                <a:solidFill>
                  <a:srgbClr val="1B5E3F"/>
                </a:solidFill>
                <a:latin typeface="Calibri"/>
              </a:rPr>
              <a:t>Ionic implementation summary</a:t>
            </a:r>
          </a:p>
        </p:txBody>
      </p:sp>
      <p:sp>
        <p:nvSpPr>
          <p:cNvPr id="7" name="TextBox 6"/>
          <p:cNvSpPr txBox="1"/>
          <p:nvPr/>
        </p:nvSpPr>
        <p:spPr>
          <a:xfrm>
            <a:off x="457200" y="4480560"/>
            <a:ext cx="5486400" cy="769441"/>
          </a:xfrm>
          <a:prstGeom prst="rect">
            <a:avLst/>
          </a:prstGeom>
          <a:noFill/>
        </p:spPr>
        <p:txBody>
          <a:bodyPr wrap="square" anchor="t">
            <a:spAutoFit/>
          </a:bodyPr>
          <a:lstStyle/>
          <a:p>
            <a:pPr algn="l">
              <a:lnSpc>
                <a:spcPct val="120000"/>
              </a:lnSpc>
            </a:pPr>
            <a:r>
              <a:rPr sz="1250" b="0" i="0" dirty="0" err="1">
                <a:solidFill>
                  <a:srgbClr val="1A1A1A"/>
                </a:solidFill>
                <a:latin typeface="Calibri"/>
              </a:rPr>
              <a:t>IonApp</a:t>
            </a:r>
            <a:r>
              <a:rPr sz="1250" b="0" i="0" dirty="0">
                <a:solidFill>
                  <a:srgbClr val="1A1A1A"/>
                </a:solidFill>
                <a:latin typeface="Calibri"/>
              </a:rPr>
              <a:t>/</a:t>
            </a:r>
            <a:r>
              <a:rPr sz="1250" b="0" i="0" dirty="0" err="1">
                <a:solidFill>
                  <a:srgbClr val="1A1A1A"/>
                </a:solidFill>
                <a:latin typeface="Calibri"/>
              </a:rPr>
              <a:t>IonReactRouter</a:t>
            </a:r>
            <a:r>
              <a:rPr sz="1250" b="0" i="0" dirty="0">
                <a:solidFill>
                  <a:srgbClr val="1A1A1A"/>
                </a:solidFill>
                <a:latin typeface="Calibri"/>
              </a:rPr>
              <a:t>/</a:t>
            </a:r>
            <a:r>
              <a:rPr sz="1250" b="0" i="0" dirty="0" err="1">
                <a:solidFill>
                  <a:srgbClr val="1A1A1A"/>
                </a:solidFill>
                <a:latin typeface="Calibri"/>
              </a:rPr>
              <a:t>IonRouterOutlet</a:t>
            </a:r>
            <a:r>
              <a:rPr sz="1250" b="0" i="0" dirty="0">
                <a:solidFill>
                  <a:srgbClr val="1A1A1A"/>
                </a:solidFill>
                <a:latin typeface="Calibri"/>
              </a:rPr>
              <a:t> for the app shell and routing, </a:t>
            </a:r>
            <a:r>
              <a:rPr sz="1250" b="0" i="0" dirty="0" err="1">
                <a:solidFill>
                  <a:srgbClr val="1A1A1A"/>
                </a:solidFill>
                <a:latin typeface="Calibri"/>
              </a:rPr>
              <a:t>IonModal</a:t>
            </a:r>
            <a:r>
              <a:rPr sz="1250" b="0" i="0" dirty="0">
                <a:solidFill>
                  <a:srgbClr val="1A1A1A"/>
                </a:solidFill>
                <a:latin typeface="Calibri"/>
              </a:rPr>
              <a:t> for every data-entry and confirmation dialog, and </a:t>
            </a:r>
            <a:r>
              <a:rPr sz="1250" b="0" i="0" dirty="0" err="1">
                <a:solidFill>
                  <a:srgbClr val="1A1A1A"/>
                </a:solidFill>
                <a:latin typeface="Calibri"/>
              </a:rPr>
              <a:t>IonIcon</a:t>
            </a:r>
            <a:r>
              <a:rPr sz="1250" b="0" i="0" dirty="0">
                <a:solidFill>
                  <a:srgbClr val="1A1A1A"/>
                </a:solidFill>
                <a:latin typeface="Calibri"/>
              </a:rPr>
              <a:t> throughout </a:t>
            </a:r>
            <a:r>
              <a:rPr lang="en-PH" sz="1250" b="0" i="0" dirty="0">
                <a:solidFill>
                  <a:srgbClr val="1A1A1A"/>
                </a:solidFill>
                <a:latin typeface="Calibri"/>
              </a:rPr>
              <a:t>-</a:t>
            </a:r>
            <a:r>
              <a:rPr sz="1250" b="0" i="0" dirty="0">
                <a:solidFill>
                  <a:srgbClr val="1A1A1A"/>
                </a:solidFill>
                <a:latin typeface="Calibri"/>
              </a:rPr>
              <a:t> packaged into native Android and iOS apps via Capacitor.</a:t>
            </a:r>
          </a:p>
        </p:txBody>
      </p:sp>
      <p:sp>
        <p:nvSpPr>
          <p:cNvPr id="8" name="TextBox 7"/>
          <p:cNvSpPr txBox="1"/>
          <p:nvPr/>
        </p:nvSpPr>
        <p:spPr>
          <a:xfrm>
            <a:off x="6400800" y="1188720"/>
            <a:ext cx="5303520" cy="365760"/>
          </a:xfrm>
          <a:prstGeom prst="rect">
            <a:avLst/>
          </a:prstGeom>
          <a:noFill/>
        </p:spPr>
        <p:txBody>
          <a:bodyPr wrap="square" anchor="t">
            <a:spAutoFit/>
          </a:bodyPr>
          <a:lstStyle/>
          <a:p>
            <a:pPr algn="l">
              <a:lnSpc>
                <a:spcPct val="100000"/>
              </a:lnSpc>
            </a:pPr>
            <a:r>
              <a:rPr sz="1500" b="1" i="0">
                <a:solidFill>
                  <a:srgbClr val="1B5E3F"/>
                </a:solidFill>
                <a:latin typeface="Calibri"/>
              </a:rPr>
              <a:t>AI integration summary</a:t>
            </a:r>
          </a:p>
        </p:txBody>
      </p:sp>
      <p:sp>
        <p:nvSpPr>
          <p:cNvPr id="9" name="TextBox 8"/>
          <p:cNvSpPr txBox="1"/>
          <p:nvPr/>
        </p:nvSpPr>
        <p:spPr>
          <a:xfrm>
            <a:off x="6400800" y="1554480"/>
            <a:ext cx="5303520" cy="1000274"/>
          </a:xfrm>
          <a:prstGeom prst="rect">
            <a:avLst/>
          </a:prstGeom>
          <a:noFill/>
        </p:spPr>
        <p:txBody>
          <a:bodyPr wrap="square" anchor="t">
            <a:spAutoFit/>
          </a:bodyPr>
          <a:lstStyle/>
          <a:p>
            <a:pPr algn="l">
              <a:lnSpc>
                <a:spcPct val="120000"/>
              </a:lnSpc>
            </a:pPr>
            <a:r>
              <a:rPr sz="1250" b="0" i="0" dirty="0">
                <a:solidFill>
                  <a:srgbClr val="1A1A1A"/>
                </a:solidFill>
                <a:latin typeface="Calibri"/>
              </a:rPr>
              <a:t>Rule-based decision support today (moving averages, trend detection, threshold alerts) computed from the business's own records </a:t>
            </a:r>
            <a:r>
              <a:rPr lang="en-PH" sz="1250" b="0" i="0" dirty="0">
                <a:solidFill>
                  <a:srgbClr val="1A1A1A"/>
                </a:solidFill>
                <a:latin typeface="Calibri"/>
              </a:rPr>
              <a:t>-</a:t>
            </a:r>
            <a:r>
              <a:rPr sz="1250" b="0" i="0" dirty="0">
                <a:solidFill>
                  <a:srgbClr val="1A1A1A"/>
                </a:solidFill>
                <a:latin typeface="Calibri"/>
              </a:rPr>
              <a:t> with the database schema already designed for a planned machine-learning forecasting service.</a:t>
            </a:r>
          </a:p>
        </p:txBody>
      </p:sp>
      <p:sp>
        <p:nvSpPr>
          <p:cNvPr id="10" name="TextBox 9"/>
          <p:cNvSpPr txBox="1"/>
          <p:nvPr/>
        </p:nvSpPr>
        <p:spPr>
          <a:xfrm>
            <a:off x="6400800" y="3200400"/>
            <a:ext cx="5303520" cy="365760"/>
          </a:xfrm>
          <a:prstGeom prst="rect">
            <a:avLst/>
          </a:prstGeom>
          <a:noFill/>
        </p:spPr>
        <p:txBody>
          <a:bodyPr wrap="square" anchor="t">
            <a:spAutoFit/>
          </a:bodyPr>
          <a:lstStyle/>
          <a:p>
            <a:pPr algn="l">
              <a:lnSpc>
                <a:spcPct val="100000"/>
              </a:lnSpc>
            </a:pPr>
            <a:r>
              <a:rPr sz="1500" b="1" i="0">
                <a:solidFill>
                  <a:srgbClr val="1B5E3F"/>
                </a:solidFill>
                <a:latin typeface="Calibri"/>
              </a:rPr>
              <a:t>Key challenges</a:t>
            </a:r>
          </a:p>
        </p:txBody>
      </p:sp>
      <p:sp>
        <p:nvSpPr>
          <p:cNvPr id="11" name="TextBox 10"/>
          <p:cNvSpPr txBox="1"/>
          <p:nvPr/>
        </p:nvSpPr>
        <p:spPr>
          <a:xfrm>
            <a:off x="6400800" y="3566160"/>
            <a:ext cx="5303520" cy="1302921"/>
          </a:xfrm>
          <a:prstGeom prst="rect">
            <a:avLst/>
          </a:prstGeom>
          <a:noFill/>
        </p:spPr>
        <p:txBody>
          <a:bodyPr wrap="square">
            <a:spAutoFit/>
          </a:bodyPr>
          <a:lstStyle/>
          <a:p>
            <a:pPr>
              <a:spcAft>
                <a:spcPts val="800"/>
              </a:spcAft>
            </a:pPr>
            <a:r>
              <a:rPr sz="1200" b="1" dirty="0">
                <a:solidFill>
                  <a:srgbClr val="1B5E3F"/>
                </a:solidFill>
                <a:latin typeface="Calibri"/>
              </a:rPr>
              <a:t>▸  Multiple auth modes:  </a:t>
            </a:r>
            <a:r>
              <a:rPr sz="1200" b="0" dirty="0">
                <a:solidFill>
                  <a:srgbClr val="1A1A1A"/>
                </a:solidFill>
                <a:latin typeface="Calibri"/>
              </a:rPr>
              <a:t>supporting </a:t>
            </a:r>
            <a:r>
              <a:rPr sz="1200" b="0" dirty="0" err="1">
                <a:solidFill>
                  <a:srgbClr val="1A1A1A"/>
                </a:solidFill>
                <a:latin typeface="Calibri"/>
              </a:rPr>
              <a:t>Supabase</a:t>
            </a:r>
            <a:r>
              <a:rPr sz="1200" b="0" dirty="0">
                <a:solidFill>
                  <a:srgbClr val="1A1A1A"/>
                </a:solidFill>
                <a:latin typeface="Calibri"/>
              </a:rPr>
              <a:t>, local SQLite, and a demo fallback so the app never shows a dead end </a:t>
            </a:r>
            <a:r>
              <a:rPr lang="en-PH" sz="1200" b="0" dirty="0">
                <a:solidFill>
                  <a:srgbClr val="1A1A1A"/>
                </a:solidFill>
                <a:latin typeface="Calibri"/>
              </a:rPr>
              <a:t>-</a:t>
            </a:r>
            <a:r>
              <a:rPr sz="1200" b="0" dirty="0">
                <a:solidFill>
                  <a:srgbClr val="1A1A1A"/>
                </a:solidFill>
                <a:latin typeface="Calibri"/>
              </a:rPr>
              <a:t> addressed with a single </a:t>
            </a:r>
            <a:r>
              <a:rPr sz="1200" b="0" dirty="0" err="1">
                <a:solidFill>
                  <a:srgbClr val="1A1A1A"/>
                </a:solidFill>
                <a:latin typeface="Calibri"/>
              </a:rPr>
              <a:t>AuthContext</a:t>
            </a:r>
            <a:r>
              <a:rPr sz="1200" b="0" dirty="0">
                <a:solidFill>
                  <a:srgbClr val="1A1A1A"/>
                </a:solidFill>
                <a:latin typeface="Calibri"/>
              </a:rPr>
              <a:t> that resolves the mode once at startup.</a:t>
            </a:r>
          </a:p>
          <a:p>
            <a:pPr>
              <a:spcAft>
                <a:spcPts val="800"/>
              </a:spcAft>
            </a:pPr>
            <a:r>
              <a:rPr sz="1200" b="1" dirty="0">
                <a:solidFill>
                  <a:srgbClr val="1B5E3F"/>
                </a:solidFill>
                <a:latin typeface="Calibri"/>
              </a:rPr>
              <a:t>▸  Design consistency:  </a:t>
            </a:r>
            <a:r>
              <a:rPr sz="1200" b="0" dirty="0">
                <a:solidFill>
                  <a:srgbClr val="1A1A1A"/>
                </a:solidFill>
                <a:latin typeface="Calibri"/>
              </a:rPr>
              <a:t>keeping custom UI visually consistent with </a:t>
            </a:r>
            <a:r>
              <a:rPr sz="1200" b="0" dirty="0" err="1">
                <a:solidFill>
                  <a:srgbClr val="1A1A1A"/>
                </a:solidFill>
                <a:latin typeface="Calibri"/>
              </a:rPr>
              <a:t>Ionic's</a:t>
            </a:r>
            <a:r>
              <a:rPr sz="1200" b="0" dirty="0">
                <a:solidFill>
                  <a:srgbClr val="1A1A1A"/>
                </a:solidFill>
                <a:latin typeface="Calibri"/>
              </a:rPr>
              <a:t> own primitives </a:t>
            </a:r>
            <a:r>
              <a:rPr lang="en-PH" sz="1200" b="0" dirty="0">
                <a:solidFill>
                  <a:srgbClr val="1A1A1A"/>
                </a:solidFill>
                <a:latin typeface="Calibri"/>
              </a:rPr>
              <a:t>-</a:t>
            </a:r>
            <a:r>
              <a:rPr sz="1200" b="0" dirty="0">
                <a:solidFill>
                  <a:srgbClr val="1A1A1A"/>
                </a:solidFill>
                <a:latin typeface="Calibri"/>
              </a:rPr>
              <a:t> addressed by bridging the app's design tokens into </a:t>
            </a:r>
            <a:r>
              <a:rPr sz="1200" b="0" dirty="0" err="1">
                <a:solidFill>
                  <a:srgbClr val="1A1A1A"/>
                </a:solidFill>
                <a:latin typeface="Calibri"/>
              </a:rPr>
              <a:t>Ionic's</a:t>
            </a:r>
            <a:r>
              <a:rPr sz="1200" b="0" dirty="0">
                <a:solidFill>
                  <a:srgbClr val="1A1A1A"/>
                </a:solidFill>
                <a:latin typeface="Calibri"/>
              </a:rPr>
              <a:t> CSS variables.</a:t>
            </a:r>
          </a:p>
        </p:txBody>
      </p:sp>
      <p:sp>
        <p:nvSpPr>
          <p:cNvPr id="12" name="TextBox 11"/>
          <p:cNvSpPr txBox="1"/>
          <p:nvPr/>
        </p:nvSpPr>
        <p:spPr>
          <a:xfrm>
            <a:off x="6400800" y="5394960"/>
            <a:ext cx="5303520" cy="365760"/>
          </a:xfrm>
          <a:prstGeom prst="rect">
            <a:avLst/>
          </a:prstGeom>
          <a:noFill/>
        </p:spPr>
        <p:txBody>
          <a:bodyPr wrap="square" anchor="t">
            <a:spAutoFit/>
          </a:bodyPr>
          <a:lstStyle/>
          <a:p>
            <a:pPr algn="l">
              <a:lnSpc>
                <a:spcPct val="100000"/>
              </a:lnSpc>
            </a:pPr>
            <a:r>
              <a:rPr sz="1500" b="1" i="0" dirty="0">
                <a:solidFill>
                  <a:srgbClr val="1B5E3F"/>
                </a:solidFill>
                <a:latin typeface="Calibri"/>
              </a:rPr>
              <a:t>Future improvements</a:t>
            </a:r>
          </a:p>
        </p:txBody>
      </p:sp>
      <p:sp>
        <p:nvSpPr>
          <p:cNvPr id="13" name="TextBox 12"/>
          <p:cNvSpPr txBox="1"/>
          <p:nvPr/>
        </p:nvSpPr>
        <p:spPr>
          <a:xfrm>
            <a:off x="6400800" y="5760720"/>
            <a:ext cx="5303520" cy="822960"/>
          </a:xfrm>
          <a:prstGeom prst="rect">
            <a:avLst/>
          </a:prstGeom>
          <a:noFill/>
        </p:spPr>
        <p:txBody>
          <a:bodyPr wrap="square">
            <a:spAutoFit/>
          </a:bodyPr>
          <a:lstStyle/>
          <a:p>
            <a:pPr>
              <a:spcAft>
                <a:spcPts val="400"/>
              </a:spcAft>
            </a:pPr>
            <a:r>
              <a:rPr sz="1200" dirty="0">
                <a:solidFill>
                  <a:srgbClr val="1A1A1A"/>
                </a:solidFill>
                <a:latin typeface="Calibri"/>
              </a:rPr>
              <a:t>▸  Build the planned Python ML forecasting service</a:t>
            </a:r>
          </a:p>
          <a:p>
            <a:pPr>
              <a:spcAft>
                <a:spcPts val="400"/>
              </a:spcAft>
            </a:pPr>
            <a:r>
              <a:rPr sz="1200" dirty="0">
                <a:solidFill>
                  <a:srgbClr val="1A1A1A"/>
                </a:solidFill>
                <a:latin typeface="Calibri"/>
              </a:rPr>
              <a:t>▸  Add LLM-based natural-language insights/chat</a:t>
            </a:r>
          </a:p>
        </p:txBody>
      </p:sp>
      <p:sp>
        <p:nvSpPr>
          <p:cNvPr id="14" name="TextBox 13"/>
          <p:cNvSpPr txBox="1"/>
          <p:nvPr/>
        </p:nvSpPr>
        <p:spPr>
          <a:xfrm>
            <a:off x="457200" y="6537960"/>
            <a:ext cx="5486400" cy="246221"/>
          </a:xfrm>
          <a:prstGeom prst="rect">
            <a:avLst/>
          </a:prstGeom>
          <a:noFill/>
        </p:spPr>
        <p:txBody>
          <a:bodyPr wrap="square" anchor="t">
            <a:spAutoFit/>
          </a:bodyPr>
          <a:lstStyle/>
          <a:p>
            <a:pPr algn="l">
              <a:lnSpc>
                <a:spcPct val="100000"/>
              </a:lnSpc>
            </a:pPr>
            <a:r>
              <a:rPr sz="1000" b="0" i="0" dirty="0" err="1">
                <a:solidFill>
                  <a:srgbClr val="5B635E"/>
                </a:solidFill>
                <a:latin typeface="Calibri"/>
              </a:rPr>
              <a:t>Bantayledger</a:t>
            </a:r>
            <a:r>
              <a:rPr sz="1000" b="0" i="0" dirty="0">
                <a:solidFill>
                  <a:srgbClr val="5B635E"/>
                </a:solidFill>
                <a:latin typeface="Calibri"/>
              </a:rPr>
              <a:t> </a:t>
            </a:r>
            <a:r>
              <a:rPr lang="en-PH" sz="1000" b="0" i="0" dirty="0">
                <a:solidFill>
                  <a:srgbClr val="5B635E"/>
                </a:solidFill>
                <a:latin typeface="Calibri"/>
              </a:rPr>
              <a:t>-</a:t>
            </a:r>
            <a:r>
              <a:rPr sz="1000" b="0" i="0" dirty="0">
                <a:solidFill>
                  <a:srgbClr val="5B635E"/>
                </a:solidFill>
                <a:latin typeface="Calibri"/>
              </a:rPr>
              <a:t> </a:t>
            </a:r>
            <a:r>
              <a:rPr sz="1000" b="0" i="0" dirty="0" err="1">
                <a:solidFill>
                  <a:srgbClr val="5B635E"/>
                </a:solidFill>
                <a:latin typeface="Calibri"/>
              </a:rPr>
              <a:t>Technopreneurship</a:t>
            </a:r>
            <a:endParaRPr sz="1000" b="0" i="0" dirty="0">
              <a:solidFill>
                <a:srgbClr val="5B635E"/>
              </a:solidFill>
              <a:latin typeface="Calibri"/>
            </a:endParaRPr>
          </a:p>
        </p:txBody>
      </p:sp>
      <p:sp>
        <p:nvSpPr>
          <p:cNvPr id="15" name="TextBox 14"/>
          <p:cNvSpPr txBox="1"/>
          <p:nvPr/>
        </p:nvSpPr>
        <p:spPr>
          <a:xfrm>
            <a:off x="11521440" y="6537960"/>
            <a:ext cx="457200" cy="274320"/>
          </a:xfrm>
          <a:prstGeom prst="rect">
            <a:avLst/>
          </a:prstGeom>
          <a:noFill/>
        </p:spPr>
        <p:txBody>
          <a:bodyPr wrap="square" anchor="t">
            <a:spAutoFit/>
          </a:bodyPr>
          <a:lstStyle/>
          <a:p>
            <a:pPr algn="r">
              <a:lnSpc>
                <a:spcPct val="100000"/>
              </a:lnSpc>
            </a:pPr>
            <a:r>
              <a:rPr sz="1000" b="0" i="0">
                <a:solidFill>
                  <a:srgbClr val="5B635E"/>
                </a:solidFill>
                <a:latin typeface="Calibri"/>
              </a:rPr>
              <a:t>34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3266</Words>
  <Application>Microsoft Office PowerPoint</Application>
  <PresentationFormat>Widescreen</PresentationFormat>
  <Paragraphs>297</Paragraphs>
  <Slides>34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Kim Decierdo</cp:lastModifiedBy>
  <cp:revision>8</cp:revision>
  <dcterms:created xsi:type="dcterms:W3CDTF">2013-01-27T09:14:16Z</dcterms:created>
  <dcterms:modified xsi:type="dcterms:W3CDTF">2026-09-08T03:45:58Z</dcterms:modified>
  <cp:category/>
</cp:coreProperties>
</file>